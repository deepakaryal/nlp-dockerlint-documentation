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5">
  <p:sldMasterIdLst>
    <p:sldMasterId id="2147483648" r:id="rId1"/>
  </p:sldMasterIdLst>
  <p:notesMasterIdLst>
    <p:notesMasterId r:id="rId34"/>
  </p:notesMasterIdLst>
  <p:sldIdLst>
    <p:sldId id="256" r:id="rId2"/>
    <p:sldId id="333" r:id="rId3"/>
    <p:sldId id="334" r:id="rId4"/>
    <p:sldId id="335" r:id="rId5"/>
    <p:sldId id="336" r:id="rId6"/>
    <p:sldId id="337" r:id="rId7"/>
    <p:sldId id="339" r:id="rId8"/>
    <p:sldId id="340" r:id="rId9"/>
    <p:sldId id="346" r:id="rId10"/>
    <p:sldId id="347" r:id="rId11"/>
    <p:sldId id="348" r:id="rId12"/>
    <p:sldId id="349" r:id="rId13"/>
    <p:sldId id="350" r:id="rId14"/>
    <p:sldId id="351" r:id="rId15"/>
    <p:sldId id="354" r:id="rId16"/>
    <p:sldId id="355" r:id="rId17"/>
    <p:sldId id="360" r:id="rId18"/>
    <p:sldId id="364" r:id="rId19"/>
    <p:sldId id="366" r:id="rId20"/>
    <p:sldId id="376" r:id="rId21"/>
    <p:sldId id="377" r:id="rId22"/>
    <p:sldId id="378" r:id="rId23"/>
    <p:sldId id="379" r:id="rId24"/>
    <p:sldId id="386" r:id="rId25"/>
    <p:sldId id="380" r:id="rId26"/>
    <p:sldId id="381" r:id="rId27"/>
    <p:sldId id="368" r:id="rId28"/>
    <p:sldId id="369" r:id="rId29"/>
    <p:sldId id="370" r:id="rId30"/>
    <p:sldId id="371" r:id="rId31"/>
    <p:sldId id="372" r:id="rId32"/>
    <p:sldId id="32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74" autoAdjust="0"/>
    <p:restoredTop sz="93483"/>
  </p:normalViewPr>
  <p:slideViewPr>
    <p:cSldViewPr snapToGrid="0">
      <p:cViewPr varScale="1">
        <p:scale>
          <a:sx n="146" d="100"/>
          <a:sy n="146" d="100"/>
        </p:scale>
        <p:origin x="16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912B51-1BBE-4740-916F-8C659B452C50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DCF212-7DED-4520-840E-C07B7ABEE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441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software systems scale, DevOps tools like Docker have become essential. However, </a:t>
            </a:r>
            <a:r>
              <a:rPr lang="en-US" dirty="0" err="1"/>
              <a:t>Dockerfiles</a:t>
            </a:r>
            <a:r>
              <a:rPr lang="en-US" dirty="0"/>
              <a:t>—although critical—are often overlooked in automated analysis. Misconfigurations in these files can lead to serious security and deployment issues, motivating this research.</a:t>
            </a:r>
            <a:endParaRPr lang="en-N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845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E9C44-3358-8262-B546-853E1EB88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42F582-5583-80AC-7743-00400C486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95D17-3986-4365-8152-0AB2920C4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software systems scale, DevOps tools like Docker have become essential. However, </a:t>
            </a:r>
            <a:r>
              <a:rPr lang="en-US" dirty="0" err="1"/>
              <a:t>Dockerfiles</a:t>
            </a:r>
            <a:r>
              <a:rPr lang="en-US" dirty="0"/>
              <a:t>—although critical—are often overlooked in automated analysis. Misconfigurations in these files can lead to serious security and deployment issues, motivating this research.</a:t>
            </a:r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D5634-5ACC-53C7-F7D9-489EF6952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2463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combined a well-established ICSE 2020 </a:t>
            </a:r>
            <a:r>
              <a:rPr lang="en-US" dirty="0" err="1"/>
              <a:t>Dockerfile</a:t>
            </a:r>
            <a:r>
              <a:rPr lang="en-US" dirty="0"/>
              <a:t> corpus with newer </a:t>
            </a:r>
            <a:r>
              <a:rPr lang="en-US" dirty="0" err="1"/>
              <a:t>Dockerfiles</a:t>
            </a:r>
            <a:r>
              <a:rPr lang="en-US" dirty="0"/>
              <a:t> from GitHub to capture both historical and recent Docker practices. This ensures relevance while maintaining research reliability.</a:t>
            </a:r>
            <a:endParaRPr lang="en-N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9752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1BFE5-70E1-61BD-35C7-9EFFA9AEB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2E2EA8-F307-AEE8-F3A6-88A3D87DA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762B7-CC0C-5039-33EE-A7834DF785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172B4-61FB-FD7C-9FDB-E42D13F424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7709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82930-29D5-A584-BD65-AE13D61AF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C4942-7A21-7054-AF53-621198B880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D00C3A-3371-2BC8-D85E-F5317BCCD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C789E-ADDD-3672-F704-5305899B1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7959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5F96-3C82-56F3-AE44-C2FF47CAF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59A3DC-483A-E240-1F6F-95113A947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F10045-7C08-DCB0-F63F-7251A309E6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65EFAB-3089-8F89-2246-76A4AB974D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092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DDB3-CFBA-D6B5-3C7C-37EFE2BE6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25FA4-BC34-FDC5-83E3-08A292EDF7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75219-A0DD-EA3C-F386-DD7ECF1869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CC83F-586F-BE1D-EA1A-2728B371B3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716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84284-9E8A-510F-1C40-7EE455A45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F4D7-CB32-7F98-3ACE-4965EAE5B8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7608-1BB3-DE4F-7A9B-4F602FE98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DCD9C0-6051-EC2F-0FEC-AA7D601211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238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Cross-entropy loss is well-suited for probabilistic multi-class classification and aligns with the </a:t>
            </a:r>
            <a:r>
              <a:rPr lang="en-US" dirty="0" err="1"/>
              <a:t>softmax</a:t>
            </a:r>
            <a:r>
              <a:rPr lang="en-US" dirty="0"/>
              <a:t>-based output layer used in both models.</a:t>
            </a:r>
            <a:endParaRPr lang="en-N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337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81B2A-0B64-578A-F115-BBB17805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7586-2366-A637-7B19-ADD3B88EFB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F9784A-EED3-17AE-FBC8-30AA8C1A72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C5207-A9AF-58E7-B636-331E3A9C12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7571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A6654-A234-D3A7-57A5-4275FB1E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4E83C1-CB08-D329-EB13-6FB9845B64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FEA3CB-8605-B687-6619-82630AAB96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27345-DC7A-2E6A-2552-A218EC340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85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02921-BD0D-5FFC-1B76-F755B2003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116048-03E8-7877-8656-7DCC711296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4C81C8-C244-D66C-F154-B6E98F3FC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495C5-69BB-2D32-1BFE-C158FE758F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3964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42979-0B04-53E4-F962-9A472DB66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1E75EC-3842-83A9-53E1-32637C71E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5FF4C-2401-7DD1-6112-4B2B1C255D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1F0BF-EDDA-4004-D46C-34807870E4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061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22D94-4F74-D141-9C45-681AC0F85F17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496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E334C-B35F-A743-9E08-DA7A7A059240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546538" y="6311900"/>
            <a:ext cx="2743200" cy="365125"/>
          </a:xfrm>
        </p:spPr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4902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F0880-CA87-2844-BB69-0CEC1E6C036A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688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67C54-B175-9D4E-889B-12B4E7550B95}" type="datetime1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211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0607A-9226-8F4B-9A47-9588CBED766B}" type="datetime1">
              <a:rPr lang="en-US" smtClean="0"/>
              <a:t>1/26/26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97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6FBCD-B0DF-3D41-957A-C67E7E39247A}" type="datetime1">
              <a:rPr lang="en-US" smtClean="0"/>
              <a:t>1/26/26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532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1F095-2760-5842-9942-27CA2570A193}" type="datetime1">
              <a:rPr lang="en-US" smtClean="0"/>
              <a:t>1/26/26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112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E0729-C53D-D744-B302-034A341762D1}" type="datetime1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770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715BF-09D3-B044-867C-9A5C13405B24}" type="datetime1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282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D0471-DF48-1A47-A60D-C3089D9A754E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609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769518-0C98-2D40-AC2D-DEF7580F73AB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965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A319B-C9C2-5449-BE3F-46A46D5EF03E}" type="datetime1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633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api.semanticscholar.org/CorpusID:13756489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semanticscholar.org/CorpusID:271855816" TargetMode="External"/><Relationship Id="rId2" Type="http://schemas.openxmlformats.org/officeDocument/2006/relationships/hyperlink" Target="https://api.semanticscholar.org/CorpusID:232045443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93431"/>
            <a:ext cx="10515600" cy="898993"/>
          </a:xfrm>
        </p:spPr>
        <p:txBody>
          <a:bodyPr>
            <a:no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</a:rPr>
              <a:t>Comparative Analysis of </a:t>
            </a:r>
            <a:r>
              <a:rPr lang="en-US" sz="2800" b="1" dirty="0" err="1">
                <a:latin typeface="Times New Roman" panose="02020603050405020304" pitchFamily="18" charset="0"/>
              </a:rPr>
              <a:t>RoBERTa</a:t>
            </a:r>
            <a:r>
              <a:rPr lang="en-US" sz="2800" b="1" dirty="0">
                <a:latin typeface="Times New Roman" panose="02020603050405020304" pitchFamily="18" charset="0"/>
              </a:rPr>
              <a:t> and </a:t>
            </a:r>
            <a:r>
              <a:rPr lang="en-US" sz="2800" b="1" dirty="0" err="1">
                <a:latin typeface="Times New Roman" panose="02020603050405020304" pitchFamily="18" charset="0"/>
              </a:rPr>
              <a:t>CodeBERT</a:t>
            </a:r>
            <a:r>
              <a:rPr lang="en-US" sz="2800" b="1" dirty="0">
                <a:latin typeface="Times New Roman" panose="02020603050405020304" pitchFamily="18" charset="0"/>
              </a:rPr>
              <a:t> for Automated Misconfiguration Detection in </a:t>
            </a:r>
            <a:r>
              <a:rPr lang="en-US" sz="2800" b="1" dirty="0" err="1">
                <a:latin typeface="Times New Roman" panose="02020603050405020304" pitchFamily="18" charset="0"/>
              </a:rPr>
              <a:t>Dockerfiles</a:t>
            </a:r>
            <a:endParaRPr lang="en-US" sz="2800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0423" y="1336431"/>
            <a:ext cx="10515600" cy="5310553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3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(MIT Thesis Viva Voce Examination)</a:t>
            </a: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Tribhuvan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University</a:t>
            </a:r>
          </a:p>
          <a:p>
            <a:pPr marL="0" indent="0" algn="ctr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Institute of Science and Technology</a:t>
            </a:r>
          </a:p>
          <a:p>
            <a:pPr marL="0" indent="0" algn="ctr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 Department of Computer Science &amp; Information Technology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(CDCSIT TU)</a:t>
            </a:r>
          </a:p>
          <a:p>
            <a:pPr marL="0" indent="0" algn="ctr">
              <a:buNone/>
            </a:pPr>
            <a:endParaRPr lang="en-US" sz="24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  <a:r>
              <a:rPr lang="en-US" sz="2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              </a:t>
            </a:r>
            <a:r>
              <a:rPr lang="en-US" sz="2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By: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Deepak Aryal							         Asst. Prof. Bikash </a:t>
            </a:r>
            <a:r>
              <a:rPr lang="en-US" sz="2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Balami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Roll no: 7925005 	                                                                                                            	                     CDCSIT TU</a:t>
            </a:r>
          </a:p>
          <a:p>
            <a:pPr marL="0" indent="0">
              <a:buNone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CDCSIT TU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       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Date: January 26, 2026 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6334" y="1808285"/>
            <a:ext cx="2083778" cy="208377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E1729-2556-A693-85A8-DE4A70C1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050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545E2-640C-85F0-DAFE-2BD4A814D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D8016-8B32-A5BF-FC78-528469ECD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thesis explores automated detection of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misconfigurations using transformer-based NLP models.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two-stage framework is proposed for binary and rule-specific misconfiguration classification.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models are evaluated on a dataset of public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N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show high detection accuracy, with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outperforming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4CF36A-C4F9-14F6-30C2-1F601E0D0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335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BF9BE-7E3F-D993-6375-1CEACF91F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712B5-8B1C-F949-4642-8A020581D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18E59-852F-18EB-8BAE-08ED833A9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491445" cy="4351338"/>
          </a:xfrm>
        </p:spPr>
        <p:txBody>
          <a:bodyPr/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1421B1-7BFE-AA03-EB28-2F32C387C847}"/>
              </a:ext>
            </a:extLst>
          </p:cNvPr>
          <p:cNvSpPr txBox="1">
            <a:spLocks/>
          </p:cNvSpPr>
          <p:nvPr/>
        </p:nvSpPr>
        <p:spPr>
          <a:xfrm>
            <a:off x="6862354" y="1825625"/>
            <a:ext cx="44914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 of Algorithms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Details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Recommendation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59446-F268-6F5E-0465-7F69A540A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738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D8DA0-F048-3B1D-4ED2-FB89AA4B4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0869A-7B43-3747-3EAA-1E574350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8F902-5D57-A289-9106-2D2346E7F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Docker is a core technology in modern DevOps for building and deploying applications</a:t>
            </a: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define container build processes but are complex and under-analyzed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Misconfigurations 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cause security vulnerabilities and build failures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tools detect rule violations but fail to generalize to complex patterns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research evaluates transformer-based NLP models to improve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misconfiguration detection</a:t>
            </a:r>
          </a:p>
          <a:p>
            <a:pPr marL="0" indent="0">
              <a:buNone/>
            </a:pPr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1020C4-F4CF-CEA8-391A-562CFAEF7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80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C1D0D-AE5E-02F9-33BF-787D65C2F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DE3624-1FA1-AE4B-80A5-1D1C2CD50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naturally leads to the problem addressed in this thesis.</a:t>
            </a:r>
            <a:endParaRPr lang="en-N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B7B53-B632-F6F5-9082-822D825B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173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76ED7-06B1-5D4F-8ABE-18CC6DD6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DAAC0-6A52-2DE3-46BA-F5ED60DE7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frequently violate best practices and contain security risks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engineers lack deep security expertise when writing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tools are rule based and limited to predefined checks which fail to detect unseen patterns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NLP/AI for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still underexplored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NP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974D72-C26E-04E2-B6EF-6E82842A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162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11A82-DF67-6510-4F94-3DC6BD863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1B530-1E2E-99FE-9925-E4891F8D2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NP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raefik:latest [v2.11.34]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293193-EB3C-C2B1-426B-0CB8DA45EE3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Traefik http router rule</a:t>
            </a:r>
          </a:p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traefik.http.routers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.${PROJECT}.rule=Host(`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	${DOMAIN}`) || 	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HostRegexp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(`{subdomain:(app)}.${DOMAIN}`	) &amp;&amp;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PathPrefix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(`/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/`))</a:t>
            </a:r>
          </a:p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NP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F1788F-0E1F-A0C0-9A8F-E05662D4B1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Autofit/>
          </a:bodyPr>
          <a:lstStyle/>
          <a:p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traefik:latest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[v3.6.6]</a:t>
            </a:r>
            <a:endParaRPr lang="en-NP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527BE9-86EA-3C80-96A5-2DAB9B3C8C4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Traefik http router rule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traefik.http.routers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.${PROJECT}.rule=Host(`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	${DOMAIN}`) || 	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HostRegexp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(`{subdomain:(app)}.${DOMAIN}`	) &amp;&amp;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PathPrefix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(`/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/`))</a:t>
            </a:r>
          </a:p>
          <a:p>
            <a:pPr marL="0" indent="0">
              <a:buNone/>
            </a:pP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traefik.http.routers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.${PROJECT}.rule=Host(`a	pi.${DOMAIN}`) || ((Host(` 	app.${DOMAIN}`) &amp;&amp;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PathPrefix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(`/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`)) </a:t>
            </a:r>
          </a:p>
          <a:p>
            <a:pPr marL="0" indent="0">
              <a:buNone/>
            </a:pPr>
            <a:endParaRPr lang="en-NP" dirty="0"/>
          </a:p>
        </p:txBody>
      </p:sp>
      <p:pic>
        <p:nvPicPr>
          <p:cNvPr id="11" name="Graphic 10" descr="Checkmark with solid fill">
            <a:extLst>
              <a:ext uri="{FF2B5EF4-FFF2-40B4-BE49-F238E27FC236}">
                <a16:creationId xmlns:a16="http://schemas.microsoft.com/office/drawing/2014/main" id="{AB1E46B2-B137-73C7-B3FD-0928897F35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6612" y="3126002"/>
            <a:ext cx="823912" cy="823912"/>
          </a:xfrm>
          <a:prstGeom prst="rect">
            <a:avLst/>
          </a:prstGeom>
        </p:spPr>
      </p:pic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74D5CF45-27F5-485A-9A68-E3E7A0AFC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4427" y="4236214"/>
            <a:ext cx="914400" cy="914400"/>
          </a:xfrm>
          <a:prstGeom prst="rect">
            <a:avLst/>
          </a:prstGeom>
        </p:spPr>
      </p:pic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7E17E8B1-5941-4604-228A-82C4F0FE8B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94427" y="2906713"/>
            <a:ext cx="914400" cy="9144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127580F-F143-1D83-330C-26A1CBE6B604}"/>
              </a:ext>
            </a:extLst>
          </p:cNvPr>
          <p:cNvCxnSpPr>
            <a:cxnSpLocks/>
          </p:cNvCxnSpPr>
          <p:nvPr/>
        </p:nvCxnSpPr>
        <p:spPr>
          <a:xfrm>
            <a:off x="5997575" y="1594022"/>
            <a:ext cx="22226" cy="504155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72561F-E5F8-95BF-F4D4-829F07A5B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832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022D2-4A1F-78CC-A4B5-DFE213776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7074B-F417-6700-9DA3-62B9AD661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8840C-0859-5DCC-DC5B-1C6E1DE82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and develop automated detection framework using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evaluate and compare the performance of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automated misconfiguration detection 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using metrics such as accuracy, precision, recall, F1-score, and AUC-ROC</a:t>
            </a:r>
          </a:p>
          <a:p>
            <a:pPr algn="just"/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AA42C8-6A16-A8DA-B581-1E73AEBF6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463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A1BC4-A338-8090-8215-E2AB91E4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7F226-7569-E0A1-24D6-2476C9363C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4D56F41-8BEF-C6EA-AF7A-107FCC17C7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766865"/>
              </p:ext>
            </p:extLst>
          </p:nvPr>
        </p:nvGraphicFramePr>
        <p:xfrm>
          <a:off x="838200" y="1512117"/>
          <a:ext cx="10221686" cy="512639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9702">
                  <a:extLst>
                    <a:ext uri="{9D8B030D-6E8A-4147-A177-3AD203B41FA5}">
                      <a16:colId xmlns:a16="http://schemas.microsoft.com/office/drawing/2014/main" val="3610803471"/>
                    </a:ext>
                  </a:extLst>
                </a:gridCol>
                <a:gridCol w="3285694">
                  <a:extLst>
                    <a:ext uri="{9D8B030D-6E8A-4147-A177-3AD203B41FA5}">
                      <a16:colId xmlns:a16="http://schemas.microsoft.com/office/drawing/2014/main" val="3694535918"/>
                    </a:ext>
                  </a:extLst>
                </a:gridCol>
                <a:gridCol w="1530433">
                  <a:extLst>
                    <a:ext uri="{9D8B030D-6E8A-4147-A177-3AD203B41FA5}">
                      <a16:colId xmlns:a16="http://schemas.microsoft.com/office/drawing/2014/main" val="1246209434"/>
                    </a:ext>
                  </a:extLst>
                </a:gridCol>
                <a:gridCol w="2404964">
                  <a:extLst>
                    <a:ext uri="{9D8B030D-6E8A-4147-A177-3AD203B41FA5}">
                      <a16:colId xmlns:a16="http://schemas.microsoft.com/office/drawing/2014/main" val="119443403"/>
                    </a:ext>
                  </a:extLst>
                </a:gridCol>
                <a:gridCol w="2350893">
                  <a:extLst>
                    <a:ext uri="{9D8B030D-6E8A-4147-A177-3AD203B41FA5}">
                      <a16:colId xmlns:a16="http://schemas.microsoft.com/office/drawing/2014/main" val="3426055835"/>
                    </a:ext>
                  </a:extLst>
                </a:gridCol>
              </a:tblGrid>
              <a:tr h="462953">
                <a:tc>
                  <a:txBody>
                    <a:bodyPr/>
                    <a:lstStyle/>
                    <a:p>
                      <a:pPr algn="l"/>
                      <a:r>
                        <a:rPr lang="en-NP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S.No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findings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Research 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712485"/>
                  </a:ext>
                </a:extLst>
              </a:tr>
              <a:tr h="884543"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Learning from, DevOps Artifacts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Expert &amp; non-expert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Non-expert </a:t>
                      </a:r>
                      <a:r>
                        <a:rPr lang="en-US" sz="18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r>
                        <a:rPr lang="en-US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violate best practices ~6× more</a:t>
                      </a:r>
                      <a:endParaRPr lang="en-NP" sz="18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Needs adaptive AI methods for complex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misconfigs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508580"/>
                  </a:ext>
                </a:extLst>
              </a:tr>
              <a:tr h="884543"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Shipwright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Faulty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Automated repair suggestions; Improves build correctness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 on build failure, not misconfiguration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995932"/>
                  </a:ext>
                </a:extLst>
              </a:tr>
              <a:tr h="619180"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Flakiness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Flaky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Characterizes flakiness; Improves repair success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line-level security detection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669396"/>
                  </a:ext>
                </a:extLst>
              </a:tr>
              <a:tr h="884543"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Linting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 Workflows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Ensures consistent quality via linting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AI/NLP misconfiguration detection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0123207"/>
                  </a:ext>
                </a:extLst>
              </a:tr>
              <a:tr h="631058"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Not all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Smells are the Same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39,000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Experts overlook smells; Validates linting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AI/NLP detection explored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099022"/>
                  </a:ext>
                </a:extLst>
              </a:tr>
              <a:tr h="619180"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DRIVE: Rule Mining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Identifies semantic &amp; syntactic rules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 on static rules, not AI/NLP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60766"/>
                  </a:ext>
                </a:extLst>
              </a:tr>
            </a:tbl>
          </a:graphicData>
        </a:graphic>
      </p:graphicFrame>
      <p:sp>
        <p:nvSpPr>
          <p:cNvPr id="10" name="Title 1">
            <a:extLst>
              <a:ext uri="{FF2B5EF4-FFF2-40B4-BE49-F238E27FC236}">
                <a16:creationId xmlns:a16="http://schemas.microsoft.com/office/drawing/2014/main" id="{6F210AD2-70C5-AB57-8F39-94CA4E1B532E}"/>
              </a:ext>
            </a:extLst>
          </p:cNvPr>
          <p:cNvSpPr txBox="1">
            <a:spLocks/>
          </p:cNvSpPr>
          <p:nvPr/>
        </p:nvSpPr>
        <p:spPr>
          <a:xfrm>
            <a:off x="838200" y="35988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lang="en-NP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799D5C-C922-4242-3BA4-1E7D5E564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502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17961-1010-C4B9-7F5C-CEC97B5B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FB829-C45B-D7BD-5BF0-9569437B0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lang="en-NP" sz="32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AFE17C8-887F-2EDC-E966-144BCFF3C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flow chart</a:t>
            </a:r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</p:txBody>
      </p:sp>
      <p:pic>
        <p:nvPicPr>
          <p:cNvPr id="10" name="Picture 9" descr="A diagram of a computer&#10;&#10;AI-generated content may be incorrect.">
            <a:extLst>
              <a:ext uri="{FF2B5EF4-FFF2-40B4-BE49-F238E27FC236}">
                <a16:creationId xmlns:a16="http://schemas.microsoft.com/office/drawing/2014/main" id="{B4B1F2B3-D67B-873D-E055-EEFD139418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3094" y="1415645"/>
            <a:ext cx="5055080" cy="500515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9C02CD-7884-7A93-9E70-B47081560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049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0668C-FD1A-0DEE-161E-174004F54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7550B-0291-FA53-E81D-F429D0EEF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E536C-81BD-E470-8E85-4D290B9CA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Source: Publicly available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from GitHub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Primary Corpus: Henkel et al.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corpus (ICSE 2020)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~178,000 real-world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Extended data: Additional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collected via GitHub Search API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and labels: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parsed line by line; each instruction (e.g., FROM, RUN, COPY) labeled as correct or wrong for training and evaluation of NLP models.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Size: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178,800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~1.6 million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instructions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7C89EB-CC6C-2571-F907-A3DEB5820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189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33075-E86D-4B6C-295D-7A694F80E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500EF-56F9-FE6C-0D40-958967966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D4E14-E56E-ABC7-5642-59672BF92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training strategy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 1: Binary misconfiguration classification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 vs wrong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 2: Rule-specific misconfiguration classification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Misconfigured instructions with rule id</a:t>
            </a:r>
          </a:p>
          <a:p>
            <a:pPr marL="457200" lvl="1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D18268-451C-B4BE-0269-AA31C1A0E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165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2487F-0F8B-BB2C-9B3C-E7CAAD71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80857-A801-5372-7C09-623B68ED8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A8570-A31F-32D5-AB01-5BF97676C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splitting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Stratified splitting into: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Training: 80%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Validation: 10%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Test: 10%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 strategies for stage 1 and stage 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88F759-EC2D-6BFA-690D-726F91BF3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3736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334F6-26F8-11BD-E982-3E8A9DEBD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29C93-0C39-9773-C9FA-B7055A510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3337-CBD5-D05D-2B66-F776EC16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splitting</a:t>
            </a:r>
          </a:p>
          <a:p>
            <a:pPr marL="0" indent="0" algn="just">
              <a:buNone/>
            </a:pP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E71DD0-357F-29AF-A086-35344F3110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397944"/>
              </p:ext>
            </p:extLst>
          </p:nvPr>
        </p:nvGraphicFramePr>
        <p:xfrm>
          <a:off x="838200" y="2262608"/>
          <a:ext cx="10515600" cy="40492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1225">
                  <a:extLst>
                    <a:ext uri="{9D8B030D-6E8A-4147-A177-3AD203B41FA5}">
                      <a16:colId xmlns:a16="http://schemas.microsoft.com/office/drawing/2014/main" val="3452225863"/>
                    </a:ext>
                  </a:extLst>
                </a:gridCol>
                <a:gridCol w="3588899">
                  <a:extLst>
                    <a:ext uri="{9D8B030D-6E8A-4147-A177-3AD203B41FA5}">
                      <a16:colId xmlns:a16="http://schemas.microsoft.com/office/drawing/2014/main" val="355111041"/>
                    </a:ext>
                  </a:extLst>
                </a:gridCol>
                <a:gridCol w="4775476">
                  <a:extLst>
                    <a:ext uri="{9D8B030D-6E8A-4147-A177-3AD203B41FA5}">
                      <a16:colId xmlns:a16="http://schemas.microsoft.com/office/drawing/2014/main" val="3934718273"/>
                    </a:ext>
                  </a:extLst>
                </a:gridCol>
              </a:tblGrid>
              <a:tr h="534838">
                <a:tc>
                  <a:txBody>
                    <a:bodyPr/>
                    <a:lstStyle/>
                    <a:p>
                      <a:pPr algn="l"/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 1: Binary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 2: Rule-level classification</a:t>
                      </a:r>
                    </a:p>
                    <a:p>
                      <a:pPr algn="l"/>
                      <a:endParaRPr lang="en-NP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420860"/>
                  </a:ext>
                </a:extLst>
              </a:tr>
              <a:tr h="477614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Correct vs Wrong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Rule-level misconfiguration classification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002203"/>
                  </a:ext>
                </a:extLst>
              </a:tr>
              <a:tr h="655982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Initial data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~1.6M instructions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Misconfigured instructions only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593386"/>
                  </a:ext>
                </a:extLst>
              </a:tr>
              <a:tr h="978403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reduction and balancing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Downsampled and selected 200K samples per class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Rare rules removed (&lt;200 samples) and capped dominant rules (&lt;=5K)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1847084"/>
                  </a:ext>
                </a:extLst>
              </a:tr>
              <a:tr h="655982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Final split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80% / 10% / 10% (stratified)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80% / 10% / 10% (rule-stratified)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463393"/>
                  </a:ext>
                </a:extLst>
              </a:tr>
              <a:tr h="641231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Motivation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Computational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Fair multi-class learning and fair cimputational feasibility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763397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69871-ABAB-4300-D8ED-838324BA5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981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FF937-B155-1CC4-1CEC-A16112801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898337-8F2F-734D-BF91-4E28BDD4C2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NP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Tokenization and encoding</a:t>
            </a:r>
          </a:p>
          <a:p>
            <a:pPr algn="just"/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Unified subword tokenization applied for both learning stages</a:t>
            </a:r>
          </a:p>
          <a:p>
            <a:pPr algn="just"/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input length of 256 tokens with truncation and padding</a:t>
            </a:r>
          </a:p>
          <a:p>
            <a:pPr algn="just"/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set only label encoding, with pre-tokenized inputs stored for efficient reuse </a:t>
            </a:r>
          </a:p>
        </p:txBody>
      </p:sp>
      <p:pic>
        <p:nvPicPr>
          <p:cNvPr id="6" name="Content Placeholder 5" descr="A diagram of a data processing process&#10;&#10;AI-generated content may be incorrect.">
            <a:extLst>
              <a:ext uri="{FF2B5EF4-FFF2-40B4-BE49-F238E27FC236}">
                <a16:creationId xmlns:a16="http://schemas.microsoft.com/office/drawing/2014/main" id="{F8D0631E-3C4F-AB76-03A1-6288F60157F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800296"/>
            <a:ext cx="5181600" cy="2401996"/>
          </a:xfr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1289523-FC20-0204-7C48-AA51677A872C}"/>
              </a:ext>
            </a:extLst>
          </p:cNvPr>
          <p:cNvCxnSpPr>
            <a:cxnSpLocks/>
          </p:cNvCxnSpPr>
          <p:nvPr/>
        </p:nvCxnSpPr>
        <p:spPr>
          <a:xfrm>
            <a:off x="6131283" y="1578544"/>
            <a:ext cx="0" cy="416664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F62027-0AF8-9FCA-6E1D-BBE019F18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552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E233A-2933-5C93-6B3D-271E6508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AA20A-40D1-0A9B-A3A9-369D29150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82741-87C2-82F7-2437-D047BC85B0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summary</a:t>
            </a:r>
          </a:p>
          <a:p>
            <a:pPr marL="0" indent="0" algn="just">
              <a:buNone/>
            </a:pP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2E481A1-F360-3B5A-3282-9B1324237E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06188"/>
              </p:ext>
            </p:extLst>
          </p:nvPr>
        </p:nvGraphicFramePr>
        <p:xfrm>
          <a:off x="838200" y="2262608"/>
          <a:ext cx="10515600" cy="39480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1225">
                  <a:extLst>
                    <a:ext uri="{9D8B030D-6E8A-4147-A177-3AD203B41FA5}">
                      <a16:colId xmlns:a16="http://schemas.microsoft.com/office/drawing/2014/main" val="3452225863"/>
                    </a:ext>
                  </a:extLst>
                </a:gridCol>
                <a:gridCol w="3342364">
                  <a:extLst>
                    <a:ext uri="{9D8B030D-6E8A-4147-A177-3AD203B41FA5}">
                      <a16:colId xmlns:a16="http://schemas.microsoft.com/office/drawing/2014/main" val="355111041"/>
                    </a:ext>
                  </a:extLst>
                </a:gridCol>
                <a:gridCol w="5022011">
                  <a:extLst>
                    <a:ext uri="{9D8B030D-6E8A-4147-A177-3AD203B41FA5}">
                      <a16:colId xmlns:a16="http://schemas.microsoft.com/office/drawing/2014/main" val="3934718273"/>
                    </a:ext>
                  </a:extLst>
                </a:gridCol>
              </a:tblGrid>
              <a:tr h="181356">
                <a:tc>
                  <a:txBody>
                    <a:bodyPr/>
                    <a:lstStyle/>
                    <a:p>
                      <a:pPr algn="l"/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 1: Binary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 2: Rule-level classification</a:t>
                      </a:r>
                    </a:p>
                    <a:p>
                      <a:pPr algn="l"/>
                      <a:endParaRPr lang="en-NP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420860"/>
                  </a:ext>
                </a:extLst>
              </a:tr>
              <a:tr h="409855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Initial dataset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~1.6M instructions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Same dataset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593386"/>
                  </a:ext>
                </a:extLst>
              </a:tr>
              <a:tr h="396815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(correct vs wrong)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 rules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6526138"/>
                  </a:ext>
                </a:extLst>
              </a:tr>
              <a:tr h="422695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 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2,00,000 per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Filtered 200+ samples, capped at 5,000 per rule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2208251"/>
                  </a:ext>
                </a:extLst>
              </a:tr>
              <a:tr h="469117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samples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1,73,297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1847084"/>
                  </a:ext>
                </a:extLst>
              </a:tr>
              <a:tr h="436283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Training set (80%)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3,20,000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1,38,637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463393"/>
                  </a:ext>
                </a:extLst>
              </a:tr>
              <a:tr h="414068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Validation set (10%)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17,330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761513"/>
                  </a:ext>
                </a:extLst>
              </a:tr>
              <a:tr h="370935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 set (10%)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17,330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234257"/>
                  </a:ext>
                </a:extLst>
              </a:tr>
              <a:tr h="388189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Detect misconfiguration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Predict violated rule if misconfigured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763397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A5FCD8-3AD1-30C1-3EB1-60DFD7B21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7669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91879-9862-AA50-32A1-691711988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 of Algorithms</a:t>
            </a:r>
            <a:endParaRPr lang="en-NP" sz="3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E1B761-ABE4-D699-EB5D-F2A41B506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13872" y="1825625"/>
            <a:ext cx="6039928" cy="4351338"/>
          </a:xfrm>
        </p:spPr>
        <p:txBody>
          <a:bodyPr>
            <a:noAutofit/>
          </a:bodyPr>
          <a:lstStyle/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 than RNNs/LSTMs: parallel training on large datasets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 mechanism: focuses on most relevant words in context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Encoder/Decoder: encoder for classification, both for translation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Self-attention: captures dependencies even across distant words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Positional encoding: keeps track of word order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7F5FC65-3FC0-942B-CD03-6A1BEA9169C8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598" y="1825625"/>
            <a:ext cx="327080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409BD1C-B7A6-A84B-368D-9689941F6E2B}"/>
              </a:ext>
            </a:extLst>
          </p:cNvPr>
          <p:cNvCxnSpPr>
            <a:cxnSpLocks/>
          </p:cNvCxnSpPr>
          <p:nvPr/>
        </p:nvCxnSpPr>
        <p:spPr>
          <a:xfrm>
            <a:off x="5135670" y="1690688"/>
            <a:ext cx="42354" cy="480218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8EA26A-9E47-EDC8-0FA0-823A125B1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7437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EB1A-085F-5E33-A77D-FE297977D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615CD-62FC-DEA8-E6CB-DAC2C10FF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 of Algorithms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151F9-37D2-B0AA-8911-0F6BC318E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Encoder only transformer architecture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Optimized version of BERT with larger datasets and better training strategies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masking: different tokens are masked in each epoch</a:t>
            </a:r>
          </a:p>
          <a:p>
            <a:pPr marL="0" indent="0" algn="just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DD034-D021-58DE-3191-A31A7F58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8667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2BF58-3300-350D-BBDD-CDDB3B34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 of algorithms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4A3F6-D470-35B2-4C09-7AFA5AAF9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N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EA65CE-1763-9FAB-17F5-DC5E98BFF4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NP" sz="5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 encoder</a:t>
            </a:r>
          </a:p>
          <a:p>
            <a:pPr algn="just" fontAlgn="base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Stack of self-attention layers producing contextualized token representations.</a:t>
            </a:r>
          </a:p>
          <a:p>
            <a:pPr algn="just" fontAlgn="base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tokens =&gt; embedding vectors =&gt; processed by encoder layers.</a:t>
            </a:r>
          </a:p>
          <a:p>
            <a:pPr marL="0" indent="0" algn="ctr" fontAlgn="base">
              <a:buNone/>
            </a:pP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 (Q,K,V) = </a:t>
            </a:r>
            <a:r>
              <a:rPr lang="en-US" sz="3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(QK</a:t>
            </a:r>
            <a:r>
              <a:rPr lang="en-US" sz="3400" i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NP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√d</a:t>
            </a:r>
            <a:r>
              <a:rPr lang="en-NP" sz="3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)V</a:t>
            </a:r>
          </a:p>
          <a:p>
            <a:pPr algn="just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Q, K, V: query, key, value from embeddings and dk: dimension of key vectors</a:t>
            </a:r>
            <a:br>
              <a:rPr lang="en-US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NP" sz="3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5E5AB-90D8-64FE-1AA3-38333C33CEC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NP" sz="5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head</a:t>
            </a:r>
          </a:p>
          <a:p>
            <a:pPr algn="just" fontAlgn="base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[CLS] token embedding from the encoder is passed through a feed-forward layer to produce a probability distribution over class labels, enabling classification of </a:t>
            </a:r>
            <a:r>
              <a:rPr lang="en-US" sz="5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correct or misconfigured.</a:t>
            </a:r>
          </a:p>
          <a:p>
            <a:pPr marL="0" indent="0" algn="ctr" fontAlgn="base">
              <a:buNone/>
            </a:pP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 = </a:t>
            </a:r>
            <a:r>
              <a:rPr lang="en-US" sz="3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(W. </a:t>
            </a:r>
            <a:r>
              <a:rPr lang="en-US" sz="3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hCLS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b)</a:t>
            </a:r>
          </a:p>
          <a:p>
            <a:pPr algn="just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</a:t>
            </a:r>
            <a:r>
              <a:rPr lang="en-US" sz="5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W,b</a:t>
            </a: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trainable parameters and y = probability distribution overs classes</a:t>
            </a:r>
          </a:p>
          <a:p>
            <a:pPr marL="0" indent="0">
              <a:buNone/>
            </a:pPr>
            <a:endParaRPr lang="en-NP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066348A-5507-DED3-60BC-A77C9A6062B3}"/>
              </a:ext>
            </a:extLst>
          </p:cNvPr>
          <p:cNvCxnSpPr>
            <a:cxnSpLocks/>
          </p:cNvCxnSpPr>
          <p:nvPr/>
        </p:nvCxnSpPr>
        <p:spPr>
          <a:xfrm>
            <a:off x="6042533" y="2097880"/>
            <a:ext cx="53467" cy="409178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00F9109-05C5-5F23-45A8-331645293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1424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69C8F-7FA3-D605-CCAE-EF8F24EC1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56B7B-11AB-723C-8490-F2E7A6685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Details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DE71D0-C564-97C3-B1CE-C42BB9925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architecture and input processing</a:t>
            </a:r>
          </a:p>
          <a:p>
            <a:endParaRPr lang="en-N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8FC2C7-622A-547C-DBB2-2F7AAC4C07D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Pretrained models</a:t>
            </a:r>
          </a:p>
          <a:p>
            <a:pPr algn="just" fontAlgn="base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-base (text-oriented)</a:t>
            </a:r>
          </a:p>
          <a:p>
            <a:pPr algn="just" fontAlgn="base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-base (code-aware)</a:t>
            </a:r>
          </a:p>
          <a:p>
            <a:pPr marL="0" indent="0" algn="just" fontAlgn="base">
              <a:buNone/>
            </a:pP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Tokenization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Model-specific tokenizers</a:t>
            </a:r>
          </a:p>
          <a:p>
            <a:pPr algn="just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Subword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encoding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Maximum sequence length: 256 tokens</a:t>
            </a:r>
          </a:p>
          <a:p>
            <a:pPr marL="0" indent="0" algn="just" fontAlgn="base">
              <a:buNone/>
            </a:pPr>
            <a:endParaRPr lang="en-N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06B925-2E98-B40B-245C-8CEA6306A59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 algn="just" fontAlgn="base">
              <a:buNone/>
            </a:pP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granularity</a:t>
            </a:r>
          </a:p>
          <a:p>
            <a:pPr algn="just" fontAlgn="base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commands processed at line level</a:t>
            </a:r>
            <a:endParaRPr lang="en-NP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heads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classifier (Stage 1)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Multi-class classifier (Stage 2)</a:t>
            </a:r>
            <a:endParaRPr lang="en-NP" sz="24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FE7828-ECDD-881B-ED1A-BB78D47F4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087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C78B0-E713-BEC7-8203-AE11C4FDF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39244-2EF5-911B-9D2F-979F08F34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Details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C36862-656A-FD5D-4974-C2EB4262B4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configuration and optimization</a:t>
            </a:r>
          </a:p>
          <a:p>
            <a:endParaRPr lang="en-N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2503BC-10A2-967A-B5B9-F5707FAF6F9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Optimizer: AdamW</a:t>
            </a:r>
          </a:p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 rate:</a:t>
            </a:r>
          </a:p>
          <a:p>
            <a:pPr lvl="1" algn="just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classification: 2 * 10</a:t>
            </a:r>
            <a:r>
              <a:rPr lang="en-NP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</a:t>
            </a:r>
          </a:p>
          <a:p>
            <a:pPr lvl="1" algn="just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 classfication: 5 * 10</a:t>
            </a:r>
            <a:r>
              <a:rPr lang="en-NP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</a:t>
            </a:r>
          </a:p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size: 32</a:t>
            </a:r>
          </a:p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Epochs: 3</a:t>
            </a:r>
          </a:p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strategy:</a:t>
            </a:r>
          </a:p>
          <a:p>
            <a:pPr lvl="1" algn="just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Validation-based loss monitoring</a:t>
            </a:r>
          </a:p>
          <a:p>
            <a:pPr lvl="1" algn="just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accumulation</a:t>
            </a:r>
          </a:p>
          <a:p>
            <a:pPr marL="0" indent="0" algn="just">
              <a:buNone/>
            </a:pPr>
            <a:endParaRPr lang="en-NP" sz="24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49F469-0FAF-984F-3218-1588A1C9ACF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 algn="just" fontAlgn="base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function:</a:t>
            </a:r>
          </a:p>
          <a:p>
            <a:pPr lvl="1" algn="just" fontAlgn="base"/>
            <a:r>
              <a:rPr lang="en-NP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classification: Cross-entropy loss</a:t>
            </a:r>
          </a:p>
          <a:p>
            <a:pPr lvl="1" algn="just" fontAlgn="base"/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 classification: Multi-class cross-entropy loss</a:t>
            </a:r>
          </a:p>
          <a:p>
            <a:pPr marL="0" indent="0" algn="just" fontAlgn="base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persistence:</a:t>
            </a:r>
          </a:p>
          <a:p>
            <a:pPr lvl="1" algn="just" fontAlgn="base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Epoch-wise checkpointing for reproducibility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0AECC6-5F59-BF80-25CB-7E9140D26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4376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E9EAA-6D08-FE42-1A00-8E4385BAD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2CEA0-4800-BF04-759F-FADF1C4C7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80208-0AE3-8B6D-B662-61D074B79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  <a:p>
            <a:endParaRPr lang="en-NP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62A3ECD-EDB5-86B6-63F4-D703B497C44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066068090"/>
              </p:ext>
            </p:extLst>
          </p:nvPr>
        </p:nvGraphicFramePr>
        <p:xfrm>
          <a:off x="839786" y="2505074"/>
          <a:ext cx="5256214" cy="34730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03930">
                  <a:extLst>
                    <a:ext uri="{9D8B030D-6E8A-4147-A177-3AD203B41FA5}">
                      <a16:colId xmlns:a16="http://schemas.microsoft.com/office/drawing/2014/main" val="2842680239"/>
                    </a:ext>
                  </a:extLst>
                </a:gridCol>
                <a:gridCol w="1254367">
                  <a:extLst>
                    <a:ext uri="{9D8B030D-6E8A-4147-A177-3AD203B41FA5}">
                      <a16:colId xmlns:a16="http://schemas.microsoft.com/office/drawing/2014/main" val="1778962985"/>
                    </a:ext>
                  </a:extLst>
                </a:gridCol>
                <a:gridCol w="1337553">
                  <a:extLst>
                    <a:ext uri="{9D8B030D-6E8A-4147-A177-3AD203B41FA5}">
                      <a16:colId xmlns:a16="http://schemas.microsoft.com/office/drawing/2014/main" val="4213453222"/>
                    </a:ext>
                  </a:extLst>
                </a:gridCol>
                <a:gridCol w="960364">
                  <a:extLst>
                    <a:ext uri="{9D8B030D-6E8A-4147-A177-3AD203B41FA5}">
                      <a16:colId xmlns:a16="http://schemas.microsoft.com/office/drawing/2014/main" val="3418836807"/>
                    </a:ext>
                  </a:extLst>
                </a:gridCol>
              </a:tblGrid>
              <a:tr h="1157679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Models</a:t>
                      </a:r>
                    </a:p>
                    <a:p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RoBERTa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CodeBERT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6409324"/>
                  </a:ext>
                </a:extLst>
              </a:tr>
              <a:tr h="11576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Binary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040968"/>
                  </a:ext>
                </a:extLst>
              </a:tr>
              <a:tr h="1157677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 class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+0.31%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71243"/>
                  </a:ext>
                </a:extLst>
              </a:tr>
            </a:tbl>
          </a:graphicData>
        </a:graphic>
      </p:graphicFrame>
      <p:pic>
        <p:nvPicPr>
          <p:cNvPr id="11" name="Content Placeholder 10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E16A5DDE-3FCE-469D-EEDC-03406A3522E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348" y="2505075"/>
            <a:ext cx="4664891" cy="3684588"/>
          </a:xfr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35E4B5-31CC-F959-5AA6-7AB1B0F9A8AD}"/>
              </a:ext>
            </a:extLst>
          </p:cNvPr>
          <p:cNvCxnSpPr>
            <a:cxnSpLocks/>
          </p:cNvCxnSpPr>
          <p:nvPr/>
        </p:nvCxnSpPr>
        <p:spPr>
          <a:xfrm>
            <a:off x="836612" y="2514600"/>
            <a:ext cx="1708468" cy="11277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5663F6-0B22-5E6F-3DA7-ACC04F35B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2151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2D784-85C8-4B45-AA5E-D9AA76BBB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8E456-3438-95CB-C606-200EA5D24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A1764C-5B76-152D-42D7-3EB5F01C3C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classification performance</a:t>
            </a:r>
          </a:p>
          <a:p>
            <a:endParaRPr lang="en-NP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7D961C2-294C-A12E-FEAA-E4F402A3838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940333117"/>
              </p:ext>
            </p:extLst>
          </p:nvPr>
        </p:nvGraphicFramePr>
        <p:xfrm>
          <a:off x="839788" y="2505074"/>
          <a:ext cx="5103812" cy="343852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17360">
                  <a:extLst>
                    <a:ext uri="{9D8B030D-6E8A-4147-A177-3AD203B41FA5}">
                      <a16:colId xmlns:a16="http://schemas.microsoft.com/office/drawing/2014/main" val="2842680239"/>
                    </a:ext>
                  </a:extLst>
                </a:gridCol>
                <a:gridCol w="1558718">
                  <a:extLst>
                    <a:ext uri="{9D8B030D-6E8A-4147-A177-3AD203B41FA5}">
                      <a16:colId xmlns:a16="http://schemas.microsoft.com/office/drawing/2014/main" val="1778962985"/>
                    </a:ext>
                  </a:extLst>
                </a:gridCol>
                <a:gridCol w="1427734">
                  <a:extLst>
                    <a:ext uri="{9D8B030D-6E8A-4147-A177-3AD203B41FA5}">
                      <a16:colId xmlns:a16="http://schemas.microsoft.com/office/drawing/2014/main" val="4213453222"/>
                    </a:ext>
                  </a:extLst>
                </a:gridCol>
              </a:tblGrid>
              <a:tr h="1228569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Models</a:t>
                      </a:r>
                    </a:p>
                    <a:p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RoBERTa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CodeBERT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6409324"/>
                  </a:ext>
                </a:extLst>
              </a:tr>
              <a:tr h="5163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040968"/>
                  </a:ext>
                </a:extLst>
              </a:tr>
              <a:tr h="59505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71243"/>
                  </a:ext>
                </a:extLst>
              </a:tr>
              <a:tr h="503505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076269"/>
                  </a:ext>
                </a:extLst>
              </a:tr>
              <a:tr h="59505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AUC-ROC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0.9970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015286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ABF472D-881B-6666-78D9-C4730D2BE847}"/>
              </a:ext>
            </a:extLst>
          </p:cNvPr>
          <p:cNvCxnSpPr>
            <a:cxnSpLocks/>
          </p:cNvCxnSpPr>
          <p:nvPr/>
        </p:nvCxnSpPr>
        <p:spPr>
          <a:xfrm>
            <a:off x="836612" y="2514600"/>
            <a:ext cx="2139501" cy="121201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Content Placeholder 8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6AE7643-3214-2282-5D6E-ADF5866361A5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348" y="2505075"/>
            <a:ext cx="4664891" cy="3684588"/>
          </a:xfr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99AC5-20A3-234C-5276-ABEDC9D85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8829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97A9-D636-7561-9C5F-06D83C149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</p:txBody>
      </p:sp>
      <p:pic>
        <p:nvPicPr>
          <p:cNvPr id="9" name="Content Placeholder 8" descr="A blue squares with white text&#10;&#10;AI-generated content may be incorrect.">
            <a:extLst>
              <a:ext uri="{FF2B5EF4-FFF2-40B4-BE49-F238E27FC236}">
                <a16:creationId xmlns:a16="http://schemas.microsoft.com/office/drawing/2014/main" id="{85DB2530-8D19-CA24-18EC-729D8AF7C90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58194"/>
            <a:ext cx="5181600" cy="3886200"/>
          </a:xfrm>
        </p:spPr>
      </p:pic>
      <p:pic>
        <p:nvPicPr>
          <p:cNvPr id="6" name="Content Placeholder 5" descr="A blue squares with white text&#10;&#10;AI-generated content may be incorrect.">
            <a:extLst>
              <a:ext uri="{FF2B5EF4-FFF2-40B4-BE49-F238E27FC236}">
                <a16:creationId xmlns:a16="http://schemas.microsoft.com/office/drawing/2014/main" id="{A26AA802-CF06-BDEE-F39F-C69E583A2CE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058194"/>
            <a:ext cx="5181600" cy="3886200"/>
          </a:xfr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0E77A7-733F-7CEC-681C-DB39B6343D6B}"/>
              </a:ext>
            </a:extLst>
          </p:cNvPr>
          <p:cNvCxnSpPr>
            <a:cxnSpLocks/>
          </p:cNvCxnSpPr>
          <p:nvPr/>
        </p:nvCxnSpPr>
        <p:spPr>
          <a:xfrm>
            <a:off x="5977446" y="1690688"/>
            <a:ext cx="42354" cy="480218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031D8-053A-2403-AE77-A233C5698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241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B5B1C-8F63-E9FC-8BAD-2AED611AA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6E1B7-8446-E705-093B-440F1262A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E392B7-29C5-DAAA-CA96-9548A8E27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Rule(Multi) classification performance (Overall)</a:t>
            </a:r>
          </a:p>
          <a:p>
            <a:endParaRPr lang="en-NP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EDDC360-51EE-52F2-4869-AB3D811D39C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57003301"/>
              </p:ext>
            </p:extLst>
          </p:nvPr>
        </p:nvGraphicFramePr>
        <p:xfrm>
          <a:off x="3169920" y="2505074"/>
          <a:ext cx="5958840" cy="349649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37886">
                  <a:extLst>
                    <a:ext uri="{9D8B030D-6E8A-4147-A177-3AD203B41FA5}">
                      <a16:colId xmlns:a16="http://schemas.microsoft.com/office/drawing/2014/main" val="2842680239"/>
                    </a:ext>
                  </a:extLst>
                </a:gridCol>
                <a:gridCol w="1215862">
                  <a:extLst>
                    <a:ext uri="{9D8B030D-6E8A-4147-A177-3AD203B41FA5}">
                      <a16:colId xmlns:a16="http://schemas.microsoft.com/office/drawing/2014/main" val="1778962985"/>
                    </a:ext>
                  </a:extLst>
                </a:gridCol>
                <a:gridCol w="1510984">
                  <a:extLst>
                    <a:ext uri="{9D8B030D-6E8A-4147-A177-3AD203B41FA5}">
                      <a16:colId xmlns:a16="http://schemas.microsoft.com/office/drawing/2014/main" val="4213453222"/>
                    </a:ext>
                  </a:extLst>
                </a:gridCol>
                <a:gridCol w="1094108">
                  <a:extLst>
                    <a:ext uri="{9D8B030D-6E8A-4147-A177-3AD203B41FA5}">
                      <a16:colId xmlns:a16="http://schemas.microsoft.com/office/drawing/2014/main" val="998074221"/>
                    </a:ext>
                  </a:extLst>
                </a:gridCol>
              </a:tblGrid>
              <a:tr h="1233133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Models</a:t>
                      </a:r>
                    </a:p>
                    <a:p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RoBERTa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CodeBERT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6409324"/>
                  </a:ext>
                </a:extLst>
              </a:tr>
              <a:tr h="5182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Macro-averaged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0.7136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+1.15%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040968"/>
                  </a:ext>
                </a:extLst>
              </a:tr>
              <a:tr h="642458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Weighted-averaged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+0.38%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71243"/>
                  </a:ext>
                </a:extLst>
              </a:tr>
              <a:tr h="505375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Top-1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+0.31%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076269"/>
                  </a:ext>
                </a:extLst>
              </a:tr>
              <a:tr h="59726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Top-3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+0.42%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015286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AB4B96-C9BF-FFF3-EAC9-E815A59A984E}"/>
              </a:ext>
            </a:extLst>
          </p:cNvPr>
          <p:cNvCxnSpPr>
            <a:cxnSpLocks/>
          </p:cNvCxnSpPr>
          <p:nvPr/>
        </p:nvCxnSpPr>
        <p:spPr>
          <a:xfrm>
            <a:off x="3166744" y="2505074"/>
            <a:ext cx="2121536" cy="12439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17C04-9721-7A12-03F1-91F84093B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89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0C7C8-E6AB-8AFD-DF11-E6FBE42C2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129F6-8B21-F1B4-713A-811352122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800F35-CDC3-AAE5-812C-64FDA5586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 class rule(multi) classification performance</a:t>
            </a:r>
          </a:p>
          <a:p>
            <a:endParaRPr lang="en-NP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DC805E9-F1A6-146B-1A80-1A78F780AADC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56606589"/>
              </p:ext>
            </p:extLst>
          </p:nvPr>
        </p:nvGraphicFramePr>
        <p:xfrm>
          <a:off x="3712384" y="2518014"/>
          <a:ext cx="5103812" cy="36651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43359">
                  <a:extLst>
                    <a:ext uri="{9D8B030D-6E8A-4147-A177-3AD203B41FA5}">
                      <a16:colId xmlns:a16="http://schemas.microsoft.com/office/drawing/2014/main" val="2842680239"/>
                    </a:ext>
                  </a:extLst>
                </a:gridCol>
                <a:gridCol w="1332719">
                  <a:extLst>
                    <a:ext uri="{9D8B030D-6E8A-4147-A177-3AD203B41FA5}">
                      <a16:colId xmlns:a16="http://schemas.microsoft.com/office/drawing/2014/main" val="1778962985"/>
                    </a:ext>
                  </a:extLst>
                </a:gridCol>
                <a:gridCol w="1427734">
                  <a:extLst>
                    <a:ext uri="{9D8B030D-6E8A-4147-A177-3AD203B41FA5}">
                      <a16:colId xmlns:a16="http://schemas.microsoft.com/office/drawing/2014/main" val="4213453222"/>
                    </a:ext>
                  </a:extLst>
                </a:gridCol>
              </a:tblGrid>
              <a:tr h="1228569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Models</a:t>
                      </a:r>
                    </a:p>
                    <a:p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RoBERTa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CodeBERT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6409324"/>
                  </a:ext>
                </a:extLst>
              </a:tr>
              <a:tr h="5163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number of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040968"/>
                  </a:ext>
                </a:extLst>
              </a:tr>
              <a:tr h="59505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Average F1-score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0.7136 (+1.15%)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71243"/>
                  </a:ext>
                </a:extLst>
              </a:tr>
              <a:tr h="503505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Number of rules with F1 &gt; 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076269"/>
                  </a:ext>
                </a:extLst>
              </a:tr>
              <a:tr h="59505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Number of rules with F1 &lt; 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015286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A32C91-997F-0E28-4E3E-FA7C64FF8897}"/>
              </a:ext>
            </a:extLst>
          </p:cNvPr>
          <p:cNvCxnSpPr>
            <a:cxnSpLocks/>
          </p:cNvCxnSpPr>
          <p:nvPr/>
        </p:nvCxnSpPr>
        <p:spPr>
          <a:xfrm>
            <a:off x="3712384" y="2518014"/>
            <a:ext cx="2383616" cy="1225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7CA8A0-4970-4E49-FD3C-B19C44CCF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6185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958A7-019B-B83C-3F00-5F0454F08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D1DD8-4FA7-944C-EE16-CEFD33A70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binary misconfiguration detection, both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achieve excellent and identical performance (≈98% accuracy), demonstrating strong and reliable classification capability.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rule-specific misconfiguration classification,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outperformed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demonstrating its stronger ability to capture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-specific and semantic patterns.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Although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 nearly three times more parameters, its general text pretraining limits its effectiveness for code analysis, while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CodeBERT’s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code centric training enables better rule specific detection.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models are suitable for large-scale binary detection, but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 more effective choice for detailed rule-level analysis due to its code-aware training.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92359-09D9-EC4F-B5AF-4CD3EFE56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4346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0ACF6-26F2-66E2-34A7-D59271C0B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77AD6-AB62-358D-2DFD-E9DD077E0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Recommendation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A322F-E58B-14A2-E9AD-BBEF8C102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rule-specific classification using larger and more diverse datasets, including data augmentation for rare rules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Explore ensemble models or hybrid approaches combining transformers with rule-based heuristics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the detection framework as a pre-commit Git hook to provide instant feedback on misconfigurations and best practice violations.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the proposed models into CI/CD pipelines for real-time misconfiguration detection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 the approach to other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IaC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technologies such as Terraform, CloudFormation, and Ansible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7FF54-2CBC-D50B-BD93-0CC70FA49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2536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7E807-49CB-DABB-2D46-85AC69D16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4429B-7E51-5116-BBF3-6374F116C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2C459-E4B1-7DC3-7F2B-B65D3B3AF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S. Phillips, T. Zimmermann, and C. Bird, “Understanding and Improving Software Build Teams,”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Proc. - Int. Conf.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May 2014,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10.1145/2568225.2568274.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A. Vaswani et al., “Attention is All you Need,” in Neural Information Processing Systems, 2017. [Online]. Available: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https://api.semanticscholar.org/CorpusID:13756489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J. Henkel, C. Bird, S. K. Lahiri, and T. Reps, “Learning from, Understanding, and Supporting DevOps Artifacts for Docker,”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2020 IEEE/ACM 42nd Int. Conf.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pp. 38–49, 2020, [Online]. Available: https://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api.semanticscholar.org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/CorpusID:211069127</a:t>
            </a:r>
          </a:p>
          <a:p>
            <a:endParaRPr lang="en-US" dirty="0"/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B82748-ED39-A4E6-096C-53C817F14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647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6B084-352E-76E4-EE54-60E95B99F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E33DC-3467-3ABF-9EE0-4D8B67FFB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EEAFC-D034-7533-DA49-A60A16FF4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J. Henkel, D. Silva, L. Teixeira, M.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d’Amorim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T. Reps, “Shipwright: A Human-in- the-Loop System for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Repair,”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2021 IEEE/ACM 43rd Int. Conf.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pp. 1148–1160, 2021, [Online]. Available: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https://api.semanticscholar.org/CorpusID:232045443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[5] T. Shabani, N. Nashid, P. Alian, and A. Mesbah, “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Flakiness: Characterization and Repair,”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 IEEE/ACM 47th Int. Conf.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pp. 1793–1805, 2024, [Online]. Available: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https://api.semanticscholar.org/CorpusID:271855816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D. W. Elliott, “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Linting: Every time, Everywhere,” 2020, [Online]. Available: https://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medium.com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/@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david.w.elliott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/dockerfile-linting-every-time-everywhere-d8d271a1e650</a:t>
            </a:r>
          </a:p>
          <a:p>
            <a:endParaRPr lang="en-US" dirty="0"/>
          </a:p>
          <a:p>
            <a:pPr algn="just"/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dirty="0"/>
          </a:p>
          <a:p>
            <a:endParaRPr lang="en-US" dirty="0"/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359994-CF5B-4C39-572D-62D8AF10B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1327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BB9D8-B06A-01E9-FFDE-0D332584E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F1A95-3EFD-AECF-C51A-C4DF3DCBB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5E8E3-6A3A-A8DD-B445-940508558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[7] G. Rosa, S. Scalabrino, G. Robles, and R. Oliveto,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all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Smells are the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Same: An Empirical Evaluation of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Hadolint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Writing Practices by Experts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2024. doi:10.1145/3643991.3644905.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[8] Y. Zhou, W. Zhan, Z. Li, T. Han, T. Chen, and H. C. Gall, “DRIVE: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Rule Mining and Violation Detection,”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Trans.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Methodol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vol. 33, pp. 1–23, 2022, [Online]. Available: https://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api.semanticscholar.org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/CorpusID:254564701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[9] J. Henkel, C. Bird, S. K. Lahiri, and T. Reps, “ICSE 2020 Artifact for: Learning from, Understanding, and Supporting DevOps Artifacts for Docker.”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Zenodo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2020.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10.5281/zenodo.3628771.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pPr algn="just"/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dirty="0"/>
          </a:p>
          <a:p>
            <a:endParaRPr lang="en-US" dirty="0"/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B1EE47-81F3-2C76-D31F-40851FDCE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5009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64169" y="3244334"/>
            <a:ext cx="521383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you!!!</a:t>
            </a:r>
            <a:endParaRPr lang="en-US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120819-4C75-4BDD-C713-86ABEDA9B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928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2809</TotalTime>
  <Words>2251</Words>
  <Application>Microsoft Macintosh PowerPoint</Application>
  <PresentationFormat>Widescreen</PresentationFormat>
  <Paragraphs>396</Paragraphs>
  <Slides>32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Calibri Light</vt:lpstr>
      <vt:lpstr>Times New Roman</vt:lpstr>
      <vt:lpstr>Office Theme</vt:lpstr>
      <vt:lpstr>Comparative Analysis of RoBERTa and CodeBERT for Automated Misconfiguration Detection in Dockerfiles</vt:lpstr>
      <vt:lpstr>ABSTRACT</vt:lpstr>
      <vt:lpstr>Outline</vt:lpstr>
      <vt:lpstr>Introduction</vt:lpstr>
      <vt:lpstr>PowerPoint Presentation</vt:lpstr>
      <vt:lpstr>Problem Statement</vt:lpstr>
      <vt:lpstr>Problem Statement</vt:lpstr>
      <vt:lpstr>Objectives</vt:lpstr>
      <vt:lpstr>PowerPoint Presentation</vt:lpstr>
      <vt:lpstr>Methodology</vt:lpstr>
      <vt:lpstr>Dataset Description</vt:lpstr>
      <vt:lpstr>Data Preprocessing</vt:lpstr>
      <vt:lpstr>Data Preprocessing</vt:lpstr>
      <vt:lpstr>Data Preprocessing</vt:lpstr>
      <vt:lpstr>Data Preprocessing</vt:lpstr>
      <vt:lpstr>Data Preprocessing</vt:lpstr>
      <vt:lpstr>Description of Algorithms</vt:lpstr>
      <vt:lpstr>Description of Algorithms</vt:lpstr>
      <vt:lpstr>Description of algorithms</vt:lpstr>
      <vt:lpstr>Implementation Details</vt:lpstr>
      <vt:lpstr>Implementation Details</vt:lpstr>
      <vt:lpstr>Result Analysis</vt:lpstr>
      <vt:lpstr>Result Analysis</vt:lpstr>
      <vt:lpstr>Result Analysis</vt:lpstr>
      <vt:lpstr>Result Analysis</vt:lpstr>
      <vt:lpstr>Result Analysis</vt:lpstr>
      <vt:lpstr>Conclusion</vt:lpstr>
      <vt:lpstr>Future Recommendation</vt:lpstr>
      <vt:lpstr>References</vt:lpstr>
      <vt:lpstr>References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Calculation of Ejection Fraction of Eco Cardiography U</dc:title>
  <dc:creator>Lenovo</dc:creator>
  <cp:lastModifiedBy>Deepak Aryal</cp:lastModifiedBy>
  <cp:revision>183</cp:revision>
  <dcterms:created xsi:type="dcterms:W3CDTF">2025-11-22T14:51:18Z</dcterms:created>
  <dcterms:modified xsi:type="dcterms:W3CDTF">2026-01-26T04:30:48Z</dcterms:modified>
</cp:coreProperties>
</file>