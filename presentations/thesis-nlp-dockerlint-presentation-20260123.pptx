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5">
  <p:sldMasterIdLst>
    <p:sldMasterId id="2147483648" r:id="rId1"/>
  </p:sldMasterIdLst>
  <p:notesMasterIdLst>
    <p:notesMasterId r:id="rId37"/>
  </p:notesMasterIdLst>
  <p:sldIdLst>
    <p:sldId id="256" r:id="rId2"/>
    <p:sldId id="333" r:id="rId3"/>
    <p:sldId id="334" r:id="rId4"/>
    <p:sldId id="335" r:id="rId5"/>
    <p:sldId id="336" r:id="rId6"/>
    <p:sldId id="337" r:id="rId7"/>
    <p:sldId id="339" r:id="rId8"/>
    <p:sldId id="340" r:id="rId9"/>
    <p:sldId id="342" r:id="rId10"/>
    <p:sldId id="346" r:id="rId11"/>
    <p:sldId id="347" r:id="rId12"/>
    <p:sldId id="348" r:id="rId13"/>
    <p:sldId id="349" r:id="rId14"/>
    <p:sldId id="350" r:id="rId15"/>
    <p:sldId id="351" r:id="rId16"/>
    <p:sldId id="354" r:id="rId17"/>
    <p:sldId id="355" r:id="rId18"/>
    <p:sldId id="360" r:id="rId19"/>
    <p:sldId id="364" r:id="rId20"/>
    <p:sldId id="366" r:id="rId21"/>
    <p:sldId id="376" r:id="rId22"/>
    <p:sldId id="377" r:id="rId23"/>
    <p:sldId id="378" r:id="rId24"/>
    <p:sldId id="379" r:id="rId25"/>
    <p:sldId id="386" r:id="rId26"/>
    <p:sldId id="380" r:id="rId27"/>
    <p:sldId id="381" r:id="rId28"/>
    <p:sldId id="382" r:id="rId29"/>
    <p:sldId id="383" r:id="rId30"/>
    <p:sldId id="368" r:id="rId31"/>
    <p:sldId id="369" r:id="rId32"/>
    <p:sldId id="370" r:id="rId33"/>
    <p:sldId id="371" r:id="rId34"/>
    <p:sldId id="372" r:id="rId35"/>
    <p:sldId id="328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69" autoAdjust="0"/>
    <p:restoredTop sz="93486"/>
  </p:normalViewPr>
  <p:slideViewPr>
    <p:cSldViewPr snapToGrid="0">
      <p:cViewPr varScale="1">
        <p:scale>
          <a:sx n="84" d="100"/>
          <a:sy n="84" d="100"/>
        </p:scale>
        <p:origin x="184" y="1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912B51-1BBE-4740-916F-8C659B452C50}" type="datetimeFigureOut">
              <a:rPr lang="en-US" smtClean="0"/>
              <a:t>1/24/26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DCF212-7DED-4520-840E-C07B7ABEE5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441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software systems scale, DevOps tools like Docker have become essential. However, </a:t>
            </a:r>
            <a:r>
              <a:rPr lang="en-US" dirty="0" err="1"/>
              <a:t>Dockerfiles</a:t>
            </a:r>
            <a:r>
              <a:rPr lang="en-US" dirty="0"/>
              <a:t>—although critical—are often overlooked in automated analysis. Misconfigurations in these files can lead to serious security and deployment issues, motivating this research.</a:t>
            </a:r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845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E9C44-3358-8262-B546-853E1EB88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42F582-5583-80AC-7743-00400C486C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195D17-3986-4365-8152-0AB2920C42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software systems scale, DevOps tools like Docker have become essential. However, </a:t>
            </a:r>
            <a:r>
              <a:rPr lang="en-US" dirty="0" err="1"/>
              <a:t>Dockerfiles</a:t>
            </a:r>
            <a:r>
              <a:rPr lang="en-US" dirty="0"/>
              <a:t>—although critical—are often overlooked in automated analysis. Misconfigurations in these files can lead to serious security and deployment issues, motivating this research.</a:t>
            </a:r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4D5634-5ACC-53C7-F7D9-489EF6952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2463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combined a well-established ICSE 2020 </a:t>
            </a:r>
            <a:r>
              <a:rPr lang="en-US" dirty="0" err="1"/>
              <a:t>Dockerfile</a:t>
            </a:r>
            <a:r>
              <a:rPr lang="en-US" dirty="0"/>
              <a:t> corpus with newer </a:t>
            </a:r>
            <a:r>
              <a:rPr lang="en-US" dirty="0" err="1"/>
              <a:t>Dockerfiles</a:t>
            </a:r>
            <a:r>
              <a:rPr lang="en-US" dirty="0"/>
              <a:t> from GitHub to capture both historical and recent Docker practices. This ensures relevance while maintaining research reliability.</a:t>
            </a:r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9752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1BFE5-70E1-61BD-35C7-9EFFA9AEB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2E2EA8-F307-AEE8-F3A6-88A3D87DA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F762B7-CC0C-5039-33EE-A7834DF785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172B4-61FB-FD7C-9FDB-E42D13F424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7709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82930-29D5-A584-BD65-AE13D61AF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C4942-7A21-7054-AF53-621198B880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D00C3A-3371-2BC8-D85E-F5317BCCD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C789E-ADDD-3672-F704-5305899B1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7959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5F96-3C82-56F3-AE44-C2FF47CAF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59A3DC-483A-E240-1F6F-95113A947C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F10045-7C08-DCB0-F63F-7251A309E6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65EFAB-3089-8F89-2246-76A4AB974D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092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DB3-CFBA-D6B5-3C7C-37EFE2BE6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25FA4-BC34-FDC5-83E3-08A292EDF7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75219-A0DD-EA3C-F386-DD7ECF1869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CC83F-586F-BE1D-EA1A-2728B371B3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716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84284-9E8A-510F-1C40-7EE455A45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F4D7-CB32-7F98-3ACE-4965EAE5B8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27608-1BB3-DE4F-7A9B-4F602FE98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DCD9C0-6051-EC2F-0FEC-AA7D601211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238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Cross-entropy loss is well-suited for probabilistic multi-class classification and aligns with the </a:t>
            </a:r>
            <a:r>
              <a:rPr lang="en-US" dirty="0" err="1"/>
              <a:t>softmax</a:t>
            </a:r>
            <a:r>
              <a:rPr lang="en-US" dirty="0"/>
              <a:t>-based output layer used in both models.</a:t>
            </a:r>
            <a:endParaRPr lang="en-N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337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81B2A-0B64-578A-F115-BBB17805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7586-2366-A637-7B19-ADD3B88EFB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9784A-EED3-17AE-FBC8-30AA8C1A72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C5207-A9AF-58E7-B636-331E3A9C12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67571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A6654-A234-D3A7-57A5-4275FB1E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4E83C1-CB08-D329-EB13-6FB9845B64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FEA3CB-8605-B687-6619-82630AAB96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27345-DC7A-2E6A-2552-A218EC340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854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02921-BD0D-5FFC-1B76-F755B2003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116048-03E8-7877-8656-7DCC711296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4C81C8-C244-D66C-F154-B6E98F3FC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495C5-69BB-2D32-1BFE-C158FE758F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3964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42979-0B04-53E4-F962-9A472DB66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1E75EC-3842-83A9-53E1-32637C71E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5FF4C-2401-7DD1-6112-4B2B1C255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A1F0BF-EDDA-4004-D46C-34807870E4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0617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F9BCE-CDF0-C2FF-7102-CCAB92F71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84C723-4B24-4A9B-BE13-BEB4BCE08C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CD4EE6-806A-8150-89CD-3B4AA46B33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FF402-45F1-6852-A85D-CDA0CEA1E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3066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919F2-0679-C0E0-1A7C-B74DD111D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B7D5C2-D2C8-A089-E6F0-3B74A76383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DCC75-1E0C-7EF5-9FE4-63C59EC0CA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B8306-039F-C56D-047A-6FA01A02AA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DCF212-7DED-4520-840E-C07B7ABEE54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20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43813-FEA2-42F6-9480-97D6D1553758}" type="datetime1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496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0BB741-4786-40F0-B291-DF879061B863}" type="datetime1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49029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07C2A-953A-4930-897A-083C625CCBF5}" type="datetime1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688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17A9A-E8B0-4AC4-A041-3570860C4141}" type="datetime1">
              <a:rPr lang="en-US" smtClean="0"/>
              <a:t>1/24/26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2115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47BD2-6660-4B44-93F6-4ED7B9FE4617}" type="datetime1">
              <a:rPr lang="en-US" smtClean="0"/>
              <a:t>1/24/26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97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F6FE6F-55C6-4D82-8F14-65F1D3A42F48}" type="datetime1">
              <a:rPr lang="en-US" smtClean="0"/>
              <a:t>1/24/26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532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F42C08-EB8A-4AAD-8191-B20CCB1CAFE0}" type="datetime1">
              <a:rPr lang="en-US" smtClean="0"/>
              <a:t>1/24/26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1122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AACD24-ACE9-4223-9171-AECE615FB3C3}" type="datetime1">
              <a:rPr lang="en-US" smtClean="0"/>
              <a:t>1/24/26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770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79FA2-1D8B-4708-92E1-BA6164E68805}" type="datetime1">
              <a:rPr lang="en-US" smtClean="0"/>
              <a:t>1/24/26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282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CB5899-D66E-450D-B498-474F1836B93C}" type="datetime1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609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729D5-E30D-4474-9225-3E79467B42A7}" type="datetime1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65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D8F7D7-7AD1-4749-8460-879CB9012590}" type="datetime1">
              <a:rPr lang="en-US" smtClean="0"/>
              <a:t>1/24/26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1E060D-FAFC-4189-907A-7AE29CACB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633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api.semanticscholar.org/CorpusID:13756489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semanticscholar.org/CorpusID:271855816" TargetMode="External"/><Relationship Id="rId2" Type="http://schemas.openxmlformats.org/officeDocument/2006/relationships/hyperlink" Target="https://api.semanticscholar.org/CorpusID:232045443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93431"/>
            <a:ext cx="10515600" cy="898993"/>
          </a:xfrm>
        </p:spPr>
        <p:txBody>
          <a:bodyPr>
            <a:no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</a:rPr>
              <a:t>Comparative Analysis of </a:t>
            </a:r>
            <a:r>
              <a:rPr lang="en-US" sz="2800" b="1" dirty="0" err="1">
                <a:latin typeface="Times New Roman" panose="02020603050405020304" pitchFamily="18" charset="0"/>
              </a:rPr>
              <a:t>RoBERTa</a:t>
            </a:r>
            <a:r>
              <a:rPr lang="en-US" sz="2800" b="1" dirty="0">
                <a:latin typeface="Times New Roman" panose="02020603050405020304" pitchFamily="18" charset="0"/>
              </a:rPr>
              <a:t> and </a:t>
            </a:r>
            <a:r>
              <a:rPr lang="en-US" sz="2800" b="1" dirty="0" err="1">
                <a:latin typeface="Times New Roman" panose="02020603050405020304" pitchFamily="18" charset="0"/>
              </a:rPr>
              <a:t>CodeBERT</a:t>
            </a:r>
            <a:r>
              <a:rPr lang="en-US" sz="2800" b="1" dirty="0">
                <a:latin typeface="Times New Roman" panose="02020603050405020304" pitchFamily="18" charset="0"/>
              </a:rPr>
              <a:t> for Automated Misconfiguration Detection in </a:t>
            </a:r>
            <a:r>
              <a:rPr lang="en-US" sz="2800" b="1" dirty="0" err="1">
                <a:latin typeface="Times New Roman" panose="02020603050405020304" pitchFamily="18" charset="0"/>
              </a:rPr>
              <a:t>Dockerfiles</a:t>
            </a:r>
            <a:endParaRPr lang="en-US" sz="2800" b="1" dirty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0423" y="1336431"/>
            <a:ext cx="10515600" cy="5310553"/>
          </a:xfrm>
        </p:spPr>
        <p:txBody>
          <a:bodyPr>
            <a:normAutofit fontScale="62500" lnSpcReduction="20000"/>
          </a:bodyPr>
          <a:lstStyle/>
          <a:p>
            <a:pPr marL="0" indent="0" algn="ctr">
              <a:buNone/>
            </a:pPr>
            <a:r>
              <a:rPr lang="en-US" sz="3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(MIT Thesis Viva Voce Examination)</a:t>
            </a: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Tribhuvan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University</a:t>
            </a:r>
          </a:p>
          <a:p>
            <a:pPr marL="0" indent="0" algn="ctr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Institute of Science and Technology</a:t>
            </a:r>
          </a:p>
          <a:p>
            <a:pPr marL="0" indent="0" algn="ctr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 Department of Computer Science &amp; Information Technology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(CDCSIT TU)</a:t>
            </a:r>
          </a:p>
          <a:p>
            <a:pPr marL="0" indent="0" algn="ctr">
              <a:buNone/>
            </a:pPr>
            <a:endParaRPr lang="en-US" sz="2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en-US"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              </a:t>
            </a:r>
            <a:r>
              <a:rPr lang="en-US" sz="2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By: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Deepak Aryal							         Asst. Prof. Bikash </a:t>
            </a:r>
            <a:r>
              <a:rPr lang="en-US" sz="2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Balami</a:t>
            </a: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Roll no: 7925005 	                                                                                                            	                     CDCSIT TU</a:t>
            </a:r>
          </a:p>
          <a:p>
            <a:pPr marL="0" indent="0">
              <a:buNone/>
            </a:pPr>
            <a:r>
              <a:rPr lang="en-US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CDCSIT TU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        </a:t>
            </a:r>
            <a:r>
              <a:rPr lang="en-US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Date: January 23, 2026 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6334" y="1808285"/>
            <a:ext cx="2083778" cy="2083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050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545E2-640C-85F0-DAFE-2BD4A814D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D8016-8B32-A5BF-FC78-528469ECD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thesis explores automated detection of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misconfigurations using transformer-based NLP models.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two-stage framework is proposed for binary and rule-specific misconfiguration classification.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models are evaluated on a dataset of public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N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show high detection accuracy, with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slightly outperforming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3359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BF9BE-7E3F-D993-6375-1CEACF91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712B5-8B1C-F949-4642-8A020581D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18E59-852F-18EB-8BAE-08ED833A9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491445" cy="4351338"/>
          </a:xfrm>
        </p:spPr>
        <p:txBody>
          <a:bodyPr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and Limitation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1421B1-7BFE-AA03-EB28-2F32C387C847}"/>
              </a:ext>
            </a:extLst>
          </p:cNvPr>
          <p:cNvSpPr txBox="1">
            <a:spLocks/>
          </p:cNvSpPr>
          <p:nvPr/>
        </p:nvSpPr>
        <p:spPr>
          <a:xfrm>
            <a:off x="6862354" y="1825625"/>
            <a:ext cx="449144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Details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Inference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Recommendation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738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D8DA0-F048-3B1D-4ED2-FB89AA4B4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0869A-7B43-3747-3EAA-1E57435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8F902-5D57-A289-9106-2D2346E7F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Docker is a core technology in modern DevOps for building and deploying applications</a:t>
            </a:r>
          </a:p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define container build processes but are complex and under-analyzed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Misconfigurations 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can cause security vulnerabilities and build failures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tools detect rule violations but fail to generalize to complex patterns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research evaluates transformer-based NLP models to improve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misconfiguration detection</a:t>
            </a:r>
          </a:p>
          <a:p>
            <a:pPr marL="0" indent="0">
              <a:buNone/>
            </a:pPr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8801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C1D0D-AE5E-02F9-33BF-787D65C2F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DE3624-1FA1-AE4B-80A5-1D1C2CD50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naturally leads to the problem addressed in this thesis.</a:t>
            </a:r>
            <a:endParaRPr lang="en-N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8173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76ED7-06B1-5D4F-8ABE-18CC6DD60C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DAAC0-6A52-2DE3-46BA-F5ED60DE7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frequently violate best practices and contain security risks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Many engineers lack deep security expertise when writing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tools are rule based and limited to predefined checks which fail to detect unseen patterns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NLP/AI for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still underexplored</a:t>
            </a:r>
          </a:p>
          <a:p>
            <a:pPr marL="0" indent="0"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dirty="0"/>
          </a:p>
        </p:txBody>
      </p:sp>
    </p:spTree>
    <p:extLst>
      <p:ext uri="{BB962C8B-B14F-4D97-AF65-F5344CB8AC3E}">
        <p14:creationId xmlns:p14="http://schemas.microsoft.com/office/powerpoint/2010/main" val="2241162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11A82-DF67-6510-4F94-3DC6BD863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1B530-1E2E-99FE-9925-E4891F8D2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NP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raefik:latest [v2.11.34]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293193-EB3C-C2B1-426B-0CB8DA45EE3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Traefik http router rule</a:t>
            </a:r>
          </a:p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traefik.http.routers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.${PROJECT}.rule=Host(`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	${DOMAIN}`) || 	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HostRegexp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(`{subdomain:(app)}.${DOMAIN}`	) &amp;&amp;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PathPrefix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(`/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/`))</a:t>
            </a:r>
          </a:p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NP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F1788F-0E1F-A0C0-9A8F-E05662D4B1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Autofit/>
          </a:bodyPr>
          <a:lstStyle/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traefik:latest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[v3.6.6]</a:t>
            </a:r>
            <a:endParaRPr lang="en-NP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D527BE9-86EA-3C80-96A5-2DAB9B3C8C4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Traefik http router rule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traefik.http.routers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.${PROJECT}.rule=Host(`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	${DOMAIN}`) || 	(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HostRegexp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(`{subdomain:(app)}.${DOMAIN}`	) &amp;&amp;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PathPrefix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(`/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/`))</a:t>
            </a:r>
          </a:p>
          <a:p>
            <a:pPr marL="0" indent="0">
              <a:buNone/>
            </a:pPr>
            <a:endParaRPr lang="en-U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traefik.http.routers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.${PROJECT}.rule=Host(`a	pi.${DOMAIN}`) || ((Host(` 	app.${DOMAIN}`) &amp;&amp;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PathPrefix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(`/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`)) </a:t>
            </a:r>
          </a:p>
          <a:p>
            <a:pPr marL="0" indent="0">
              <a:buNone/>
            </a:pPr>
            <a:endParaRPr lang="en-NP" dirty="0"/>
          </a:p>
        </p:txBody>
      </p:sp>
      <p:pic>
        <p:nvPicPr>
          <p:cNvPr id="11" name="Graphic 10" descr="Checkmark with solid fill">
            <a:extLst>
              <a:ext uri="{FF2B5EF4-FFF2-40B4-BE49-F238E27FC236}">
                <a16:creationId xmlns:a16="http://schemas.microsoft.com/office/drawing/2014/main" id="{AB1E46B2-B137-73C7-B3FD-0928897F35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6612" y="3126002"/>
            <a:ext cx="823912" cy="823912"/>
          </a:xfrm>
          <a:prstGeom prst="rect">
            <a:avLst/>
          </a:prstGeom>
        </p:spPr>
      </p:pic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74D5CF45-27F5-485A-9A68-E3E7A0AFC4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94427" y="4236214"/>
            <a:ext cx="914400" cy="9144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7E17E8B1-5941-4604-228A-82C4F0FE8B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4427" y="2906713"/>
            <a:ext cx="914400" cy="914400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127580F-F143-1D83-330C-26A1CBE6B604}"/>
              </a:ext>
            </a:extLst>
          </p:cNvPr>
          <p:cNvCxnSpPr>
            <a:cxnSpLocks/>
          </p:cNvCxnSpPr>
          <p:nvPr/>
        </p:nvCxnSpPr>
        <p:spPr>
          <a:xfrm>
            <a:off x="5997575" y="1594022"/>
            <a:ext cx="22226" cy="5041556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6832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022D2-4A1F-78CC-A4B5-DFE213776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7074B-F417-6700-9DA3-62B9AD661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78840C-0859-5DCC-DC5B-1C6E1DE824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and develop automated detection framework using either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find out which one has better performance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evaluate and compare the performance of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automated misconfiguration detection in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using metrics such as accuracy, precision, recall, F1-score, and AUC-ROC</a:t>
            </a:r>
          </a:p>
          <a:p>
            <a:pPr algn="just"/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463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52270-506F-DCC7-A907-57F3C6609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and Limitation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E860F-0450-03BE-235A-070113F035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⚡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compared: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🛠️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Automated detection of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misconfigurations</a:t>
            </a:r>
          </a:p>
          <a:p>
            <a:pPr marL="0" indent="0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📄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Analysis type: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Static, NLP-based evaluation</a:t>
            </a:r>
          </a:p>
          <a:p>
            <a:pPr marL="0" indent="0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metrics: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Accuracy | Precision | Recall | F1-score | AUC-ROC</a:t>
            </a:r>
          </a:p>
          <a:p>
            <a:pPr marL="0" indent="0">
              <a:buNone/>
            </a:pPr>
            <a:endParaRPr lang="en-N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F7BC9F-6CEF-A18F-A58B-19F6CCBDD72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🐳 </a:t>
            </a: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Scope: </a:t>
            </a: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Dockerfiles</a:t>
            </a:r>
          </a:p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📂 </a:t>
            </a: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Dataset: </a:t>
            </a: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Publicly available Dockerfiels</a:t>
            </a:r>
          </a:p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⚡ </a:t>
            </a: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Models: </a:t>
            </a: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 RoBERTa and CodeBERT</a:t>
            </a:r>
          </a:p>
          <a:p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💻 </a:t>
            </a: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Resources: </a:t>
            </a: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computational power may affect experiments and tuning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6CC57F-DE13-7370-1042-E71BA73C0B7A}"/>
              </a:ext>
            </a:extLst>
          </p:cNvPr>
          <p:cNvCxnSpPr>
            <a:cxnSpLocks/>
          </p:cNvCxnSpPr>
          <p:nvPr/>
        </p:nvCxnSpPr>
        <p:spPr>
          <a:xfrm>
            <a:off x="6049347" y="1690688"/>
            <a:ext cx="0" cy="353692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13734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A1BC4-A338-8090-8215-E2AB91E4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7F226-7569-E0A1-24D6-2476C9363C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N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4D56F41-8BEF-C6EA-AF7A-107FCC17C7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362237"/>
              </p:ext>
            </p:extLst>
          </p:nvPr>
        </p:nvGraphicFramePr>
        <p:xfrm>
          <a:off x="838200" y="1825625"/>
          <a:ext cx="10515600" cy="46056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06852">
                  <a:extLst>
                    <a:ext uri="{9D8B030D-6E8A-4147-A177-3AD203B41FA5}">
                      <a16:colId xmlns:a16="http://schemas.microsoft.com/office/drawing/2014/main" val="3694535918"/>
                    </a:ext>
                  </a:extLst>
                </a:gridCol>
                <a:gridCol w="1949775">
                  <a:extLst>
                    <a:ext uri="{9D8B030D-6E8A-4147-A177-3AD203B41FA5}">
                      <a16:colId xmlns:a16="http://schemas.microsoft.com/office/drawing/2014/main" val="1246209434"/>
                    </a:ext>
                  </a:extLst>
                </a:gridCol>
                <a:gridCol w="3063929">
                  <a:extLst>
                    <a:ext uri="{9D8B030D-6E8A-4147-A177-3AD203B41FA5}">
                      <a16:colId xmlns:a16="http://schemas.microsoft.com/office/drawing/2014/main" val="119443403"/>
                    </a:ext>
                  </a:extLst>
                </a:gridCol>
                <a:gridCol w="2995044">
                  <a:extLst>
                    <a:ext uri="{9D8B030D-6E8A-4147-A177-3AD203B41FA5}">
                      <a16:colId xmlns:a16="http://schemas.microsoft.com/office/drawing/2014/main" val="3426055835"/>
                    </a:ext>
                  </a:extLst>
                </a:gridCol>
              </a:tblGrid>
              <a:tr h="478580"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findings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sz="18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 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712485"/>
                  </a:ext>
                </a:extLst>
              </a:tr>
              <a:tr h="889460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Learning from, DevOps Artifacts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Expert &amp; non-expert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Non-expert </a:t>
                      </a:r>
                      <a:r>
                        <a:rPr lang="en-US" sz="18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r>
                        <a:rPr lang="en-US" sz="1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violate best practices ~6× more; IDE integration suggested</a:t>
                      </a:r>
                      <a:endParaRPr lang="en-NP" sz="18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Needs adaptive AI methods for complex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misconfigs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508580"/>
                  </a:ext>
                </a:extLst>
              </a:tr>
              <a:tr h="618667">
                <a:tc>
                  <a:txBody>
                    <a:bodyPr/>
                    <a:lstStyle/>
                    <a:p>
                      <a:pPr algn="l"/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Shipwright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Faulty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Automated repair suggestions; Improves build correctness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on build failure, not misconfiguration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995932"/>
                  </a:ext>
                </a:extLst>
              </a:tr>
              <a:tr h="618668">
                <a:tc>
                  <a:txBody>
                    <a:bodyPr/>
                    <a:lstStyle/>
                    <a:p>
                      <a:pPr algn="l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Flakiness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Flaky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Characterizes flakiness; Improves repair success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line-level security detection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6669396"/>
                  </a:ext>
                </a:extLst>
              </a:tr>
              <a:tr h="584975">
                <a:tc>
                  <a:txBody>
                    <a:bodyPr/>
                    <a:lstStyle/>
                    <a:p>
                      <a:pPr algn="l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Linting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 Workflows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Ensures consistent quality via linting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AI/NLP misconfiguration detection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0123207"/>
                  </a:ext>
                </a:extLst>
              </a:tr>
              <a:tr h="652359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 all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</a:t>
                      </a:r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Smells are the Same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39,000 </a:t>
                      </a:r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Experts overlook smells; Validates linting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AI/NLP detection explored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099022"/>
                  </a:ext>
                </a:extLst>
              </a:tr>
              <a:tr h="614512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DRIVE: Rule Mining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Dockerfiles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Identifies semantic &amp; syntactic rules; Improves quality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on static rules, not AI/NLP</a:t>
                      </a:r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960766"/>
                  </a:ext>
                </a:extLst>
              </a:tr>
            </a:tbl>
          </a:graphicData>
        </a:graphic>
      </p:graphicFrame>
      <p:sp>
        <p:nvSpPr>
          <p:cNvPr id="10" name="Title 1">
            <a:extLst>
              <a:ext uri="{FF2B5EF4-FFF2-40B4-BE49-F238E27FC236}">
                <a16:creationId xmlns:a16="http://schemas.microsoft.com/office/drawing/2014/main" id="{6F210AD2-70C5-AB57-8F39-94CA4E1B532E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</a:t>
            </a:r>
            <a:endParaRPr lang="en-NP" sz="3200" dirty="0"/>
          </a:p>
        </p:txBody>
      </p:sp>
    </p:spTree>
    <p:extLst>
      <p:ext uri="{BB962C8B-B14F-4D97-AF65-F5344CB8AC3E}">
        <p14:creationId xmlns:p14="http://schemas.microsoft.com/office/powerpoint/2010/main" val="2759502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17961-1010-C4B9-7F5C-CEC97B5B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B829-C45B-D7BD-5BF0-9569437B0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  <a:endParaRPr lang="en-NP" sz="32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AFE17C8-887F-2EDC-E966-144BCFF3C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flow chart</a:t>
            </a:r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  <a:p>
            <a:pPr marL="0" indent="0">
              <a:buNone/>
            </a:pPr>
            <a:endParaRPr lang="en-NP" dirty="0"/>
          </a:p>
        </p:txBody>
      </p:sp>
      <p:pic>
        <p:nvPicPr>
          <p:cNvPr id="10" name="Picture 9" descr="A diagram of a computer&#10;&#10;AI-generated content may be incorrect.">
            <a:extLst>
              <a:ext uri="{FF2B5EF4-FFF2-40B4-BE49-F238E27FC236}">
                <a16:creationId xmlns:a16="http://schemas.microsoft.com/office/drawing/2014/main" id="{B4B1F2B3-D67B-873D-E055-EEFD139418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3094" y="1415645"/>
            <a:ext cx="5055080" cy="500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049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0668C-FD1A-0DEE-161E-174004F54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7550B-0291-FA53-E81D-F429D0EEF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E536C-81BD-E470-8E85-4D290B9CA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Source: Publicly available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from GitHub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Primary Corpus: Henkel et al.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corpus (ICSE 2020)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~178,000 real-world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Extended data: Additional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collected via GitHub Search API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Processing and labels: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parsed line by line; each instruction (e.g., FROM, RUN, COPY) labeled as correct or wrong for training and evaluation of NLP models.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Size: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~178,800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~1.6 million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instructions</a:t>
            </a:r>
          </a:p>
        </p:txBody>
      </p:sp>
    </p:spTree>
    <p:extLst>
      <p:ext uri="{BB962C8B-B14F-4D97-AF65-F5344CB8AC3E}">
        <p14:creationId xmlns:p14="http://schemas.microsoft.com/office/powerpoint/2010/main" val="3050189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33075-E86D-4B6C-295D-7A694F80E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500EF-56F9-FE6C-0D40-958967966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D4E14-E56E-ABC7-5642-59672BF92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training strategy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1: Binary misconfiguration classification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Correct vs wrong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2: Rule-specific misconfiguration classification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Misconfigured instructions with rule id</a:t>
            </a:r>
          </a:p>
          <a:p>
            <a:pPr marL="457200" lvl="1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0165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2487F-0F8B-BB2C-9B3C-E7CAAD71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80857-A801-5372-7C09-623B68ED8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A8570-A31F-32D5-AB01-5BF97676C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splitting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Stratified splitting into: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Training: 80%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Validation: 10%</a:t>
            </a:r>
          </a:p>
          <a:p>
            <a:pPr lvl="1"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Test: 10%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Separate strategies for stage 1 and stage 2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Due to computational resource constraints, a representative subset of the dataset was used for training and evaluation.</a:t>
            </a:r>
          </a:p>
        </p:txBody>
      </p:sp>
    </p:spTree>
    <p:extLst>
      <p:ext uri="{BB962C8B-B14F-4D97-AF65-F5344CB8AC3E}">
        <p14:creationId xmlns:p14="http://schemas.microsoft.com/office/powerpoint/2010/main" val="905373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334F6-26F8-11BD-E982-3E8A9DEBD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29C93-0C39-9773-C9FA-B7055A51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C3337-CBD5-D05D-2B66-F776EC16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splitting</a:t>
            </a:r>
          </a:p>
          <a:p>
            <a:pPr marL="0" indent="0" algn="just">
              <a:buNone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8E71DD0-357F-29AF-A086-35344F3110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397944"/>
              </p:ext>
            </p:extLst>
          </p:nvPr>
        </p:nvGraphicFramePr>
        <p:xfrm>
          <a:off x="838200" y="2262608"/>
          <a:ext cx="10515600" cy="404929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1225">
                  <a:extLst>
                    <a:ext uri="{9D8B030D-6E8A-4147-A177-3AD203B41FA5}">
                      <a16:colId xmlns:a16="http://schemas.microsoft.com/office/drawing/2014/main" val="3452225863"/>
                    </a:ext>
                  </a:extLst>
                </a:gridCol>
                <a:gridCol w="3588899">
                  <a:extLst>
                    <a:ext uri="{9D8B030D-6E8A-4147-A177-3AD203B41FA5}">
                      <a16:colId xmlns:a16="http://schemas.microsoft.com/office/drawing/2014/main" val="355111041"/>
                    </a:ext>
                  </a:extLst>
                </a:gridCol>
                <a:gridCol w="4775476">
                  <a:extLst>
                    <a:ext uri="{9D8B030D-6E8A-4147-A177-3AD203B41FA5}">
                      <a16:colId xmlns:a16="http://schemas.microsoft.com/office/drawing/2014/main" val="3934718273"/>
                    </a:ext>
                  </a:extLst>
                </a:gridCol>
              </a:tblGrid>
              <a:tr h="534838">
                <a:tc>
                  <a:txBody>
                    <a:bodyPr/>
                    <a:lstStyle/>
                    <a:p>
                      <a:pPr algn="l"/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1: Binary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2: Rule-level classification</a:t>
                      </a:r>
                    </a:p>
                    <a:p>
                      <a:pPr algn="l"/>
                      <a:endParaRPr lang="en-NP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420860"/>
                  </a:ext>
                </a:extLst>
              </a:tr>
              <a:tr h="477614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Correct vs Wrong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Rule-level misconfiguration classification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002203"/>
                  </a:ext>
                </a:extLst>
              </a:tr>
              <a:tr h="655982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Initial data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~1.6M instructions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Misconfigured instructions only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593386"/>
                  </a:ext>
                </a:extLst>
              </a:tr>
              <a:tr h="978403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reduction and balancing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Downsampled and selected 200K samples per class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Rare rules removed (&lt;200 samples) and capped dominant rules (&lt;=5K)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1847084"/>
                  </a:ext>
                </a:extLst>
              </a:tr>
              <a:tr h="655982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Final split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80% / 10% / 10% (stratified)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80% / 10% / 10% (rule-stratified)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463393"/>
                  </a:ext>
                </a:extLst>
              </a:tr>
              <a:tr h="641231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Motivation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Computational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Fair multi-class learning and fair cimputational feasibility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763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9981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FF937-B155-1CC4-1CEC-A16112801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898337-8F2F-734D-BF91-4E28BDD4C2E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P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 and encoding</a:t>
            </a:r>
          </a:p>
          <a:p>
            <a:pPr algn="just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Unified subword tokenization applied for both learning stages</a:t>
            </a:r>
          </a:p>
          <a:p>
            <a:pPr algn="just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Fixed input length of 256 tokens with truncation and padding</a:t>
            </a:r>
          </a:p>
          <a:p>
            <a:pPr algn="just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set only label encoding, with pre-tokenized inputs stored for efficient reuse </a:t>
            </a:r>
          </a:p>
        </p:txBody>
      </p:sp>
      <p:pic>
        <p:nvPicPr>
          <p:cNvPr id="6" name="Content Placeholder 5" descr="A diagram of a data processing process&#10;&#10;AI-generated content may be incorrect.">
            <a:extLst>
              <a:ext uri="{FF2B5EF4-FFF2-40B4-BE49-F238E27FC236}">
                <a16:creationId xmlns:a16="http://schemas.microsoft.com/office/drawing/2014/main" id="{F8D0631E-3C4F-AB76-03A1-6288F60157F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800296"/>
            <a:ext cx="5181600" cy="2401996"/>
          </a:xfr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1289523-FC20-0204-7C48-AA51677A872C}"/>
              </a:ext>
            </a:extLst>
          </p:cNvPr>
          <p:cNvCxnSpPr>
            <a:cxnSpLocks/>
          </p:cNvCxnSpPr>
          <p:nvPr/>
        </p:nvCxnSpPr>
        <p:spPr>
          <a:xfrm>
            <a:off x="6131283" y="1578544"/>
            <a:ext cx="0" cy="4166648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5523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E233A-2933-5C93-6B3D-271E6508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AA20A-40D1-0A9B-A3A9-369D29150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82741-87C2-82F7-2437-D047BC85B0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summary</a:t>
            </a:r>
          </a:p>
          <a:p>
            <a:pPr marL="0" indent="0" algn="just">
              <a:buNone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2E481A1-F360-3B5A-3282-9B1324237E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906188"/>
              </p:ext>
            </p:extLst>
          </p:nvPr>
        </p:nvGraphicFramePr>
        <p:xfrm>
          <a:off x="838200" y="2262608"/>
          <a:ext cx="10515600" cy="394803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1225">
                  <a:extLst>
                    <a:ext uri="{9D8B030D-6E8A-4147-A177-3AD203B41FA5}">
                      <a16:colId xmlns:a16="http://schemas.microsoft.com/office/drawing/2014/main" val="3452225863"/>
                    </a:ext>
                  </a:extLst>
                </a:gridCol>
                <a:gridCol w="3342364">
                  <a:extLst>
                    <a:ext uri="{9D8B030D-6E8A-4147-A177-3AD203B41FA5}">
                      <a16:colId xmlns:a16="http://schemas.microsoft.com/office/drawing/2014/main" val="355111041"/>
                    </a:ext>
                  </a:extLst>
                </a:gridCol>
                <a:gridCol w="5022011">
                  <a:extLst>
                    <a:ext uri="{9D8B030D-6E8A-4147-A177-3AD203B41FA5}">
                      <a16:colId xmlns:a16="http://schemas.microsoft.com/office/drawing/2014/main" val="3934718273"/>
                    </a:ext>
                  </a:extLst>
                </a:gridCol>
              </a:tblGrid>
              <a:tr h="181356">
                <a:tc>
                  <a:txBody>
                    <a:bodyPr/>
                    <a:lstStyle/>
                    <a:p>
                      <a:pPr algn="l"/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Aspect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1: Binary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 2: Rule-level classification</a:t>
                      </a:r>
                    </a:p>
                    <a:p>
                      <a:pPr algn="l"/>
                      <a:endParaRPr lang="en-NP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420860"/>
                  </a:ext>
                </a:extLst>
              </a:tr>
              <a:tr h="409855"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Initial dataset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~1.6M instructions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Same dataset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593386"/>
                  </a:ext>
                </a:extLst>
              </a:tr>
              <a:tr h="396815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(correct vs wrong)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 rules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6526138"/>
                  </a:ext>
                </a:extLst>
              </a:tr>
              <a:tr h="422695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Class 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2,00,000 per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Filtered 200+ samples, capped at 5,000 per rule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2208251"/>
                  </a:ext>
                </a:extLst>
              </a:tr>
              <a:tr h="469117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samples used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1,73,297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1847084"/>
                  </a:ext>
                </a:extLst>
              </a:tr>
              <a:tr h="436283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Training set (80%)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3,20,000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1,38,637</a:t>
                      </a:r>
                      <a:endParaRPr lang="en-NP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463393"/>
                  </a:ext>
                </a:extLst>
              </a:tr>
              <a:tr h="414068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Validation set (10%)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17,330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761513"/>
                  </a:ext>
                </a:extLst>
              </a:tr>
              <a:tr h="370935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 set (10%)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17,330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98234257"/>
                  </a:ext>
                </a:extLst>
              </a:tr>
              <a:tr h="388189"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Detect misconfiguration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NP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Predict violated rule if misconfigured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8763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17669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91879-9862-AA50-32A1-691711988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  <a:endParaRPr lang="en-NP" sz="32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E1B761-ABE4-D699-EB5D-F2A41B506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13872" y="1825625"/>
            <a:ext cx="6039928" cy="4351338"/>
          </a:xfrm>
        </p:spPr>
        <p:txBody>
          <a:bodyPr>
            <a:noAutofit/>
          </a:bodyPr>
          <a:lstStyle/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than RNNs/LSTMs: parallel training on large datasets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mechanism: focuses on most relevant words in context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Encoder/Decoder: encoder for classification, both for translation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Self-attention: captures dependencies even across distant words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Positional encoding: keeps track of word order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7F5FC65-3FC0-942B-CD03-6A1BEA9169C8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598" y="1825625"/>
            <a:ext cx="327080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409BD1C-B7A6-A84B-368D-9689941F6E2B}"/>
              </a:ext>
            </a:extLst>
          </p:cNvPr>
          <p:cNvCxnSpPr>
            <a:cxnSpLocks/>
          </p:cNvCxnSpPr>
          <p:nvPr/>
        </p:nvCxnSpPr>
        <p:spPr>
          <a:xfrm>
            <a:off x="5135670" y="1690688"/>
            <a:ext cx="42354" cy="480218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47437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EB1A-085F-5E33-A77D-FE297977D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615CD-62FC-DEA8-E6CB-DAC2C10FF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  <a:endParaRPr lang="en-NP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151F9-37D2-B0AA-8911-0F6BC318E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Encoder only transformer architecture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Optimized version of BERT with larger datasets and better training strategies</a:t>
            </a:r>
          </a:p>
          <a:p>
            <a:pPr algn="just" fontAlgn="base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masking: different tokens are masked in each epoch</a:t>
            </a:r>
          </a:p>
          <a:p>
            <a:pPr marL="0" indent="0" algn="just"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866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2BF58-3300-350D-BBDD-CDDB3B34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 of algorithms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4A3F6-D470-35B2-4C09-7AFA5AAF99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EA65CE-1763-9FAB-17F5-DC5E98BFF49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NP" sz="5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Transformer encoder</a:t>
            </a:r>
          </a:p>
          <a:p>
            <a:pPr algn="just" fontAlgn="base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 of self-attention layers producing contextualized token representations.</a:t>
            </a:r>
          </a:p>
          <a:p>
            <a:pPr algn="just" fontAlgn="base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tokens =&gt; embedding vectors =&gt; processed by encoder layers.</a:t>
            </a:r>
          </a:p>
          <a:p>
            <a:pPr marL="0" indent="0" algn="ctr" fontAlgn="base">
              <a:buNone/>
            </a:pPr>
            <a:r>
              <a:rPr lang="en-US" sz="3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Attention (Q,K,V) = </a:t>
            </a:r>
            <a:r>
              <a:rPr lang="en-US" sz="3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(QK</a:t>
            </a:r>
            <a:r>
              <a:rPr lang="en-US" sz="3400" i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NP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√d</a:t>
            </a:r>
            <a:r>
              <a:rPr lang="en-NP" sz="34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)V</a:t>
            </a:r>
          </a:p>
          <a:p>
            <a:pPr algn="just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Q, K, V: query, key, value from embeddings and dk: dimension of key vectors</a:t>
            </a:r>
            <a:br>
              <a:rPr lang="en-US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NP" sz="3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5E5AB-90D8-64FE-1AA3-38333C33CEC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NP" sz="5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head</a:t>
            </a:r>
          </a:p>
          <a:p>
            <a:pPr algn="just" fontAlgn="base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[CLS] token embedding from the encoder is passed through a feed-forward layer to produce a probability distribution over class labels, enabling classification of </a:t>
            </a:r>
            <a:r>
              <a:rPr lang="en-US" sz="5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Dockerfiles</a:t>
            </a: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as correct or misconfigured.</a:t>
            </a:r>
          </a:p>
          <a:p>
            <a:pPr marL="0" indent="0" algn="ctr" fontAlgn="base">
              <a:buNone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 = </a:t>
            </a:r>
            <a:r>
              <a:rPr lang="en-US" sz="3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(W. </a:t>
            </a:r>
            <a:r>
              <a:rPr lang="en-US" sz="3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hCLS</a:t>
            </a:r>
            <a:r>
              <a:rPr lang="en-US" sz="3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b)</a:t>
            </a:r>
          </a:p>
          <a:p>
            <a:pPr algn="just"/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</a:t>
            </a:r>
            <a:r>
              <a:rPr lang="en-US" sz="5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W,b</a:t>
            </a: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trainable parameters and y = probability distribution overs classes</a:t>
            </a:r>
          </a:p>
          <a:p>
            <a:pPr marL="0" indent="0">
              <a:buNone/>
            </a:pPr>
            <a:endParaRPr lang="en-NP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066348A-5507-DED3-60BC-A77C9A6062B3}"/>
              </a:ext>
            </a:extLst>
          </p:cNvPr>
          <p:cNvCxnSpPr>
            <a:cxnSpLocks/>
          </p:cNvCxnSpPr>
          <p:nvPr/>
        </p:nvCxnSpPr>
        <p:spPr>
          <a:xfrm>
            <a:off x="6042533" y="2097880"/>
            <a:ext cx="53467" cy="4091783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51424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69C8F-7FA3-D605-CCAE-EF8F24EC1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56B7B-11AB-723C-8490-F2E7A6685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Details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DE71D0-C564-97C3-B1CE-C42BB9925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architecture and input processing</a:t>
            </a:r>
          </a:p>
          <a:p>
            <a:endParaRPr lang="en-N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8FC2C7-622A-547C-DBB2-2F7AAC4C07D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Pretrained models</a:t>
            </a:r>
          </a:p>
          <a:p>
            <a:pPr algn="just" fontAlgn="base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 (text-oriented)</a:t>
            </a:r>
          </a:p>
          <a:p>
            <a:pPr algn="just" fontAlgn="base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 (code-aware)</a:t>
            </a:r>
          </a:p>
          <a:p>
            <a:pPr marL="0" indent="0" algn="just" fontAlgn="base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Tokenization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Model-specific tokenizers</a:t>
            </a:r>
          </a:p>
          <a:p>
            <a:pPr algn="just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Subword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encoding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Maximum sequence length: 256 tokens</a:t>
            </a:r>
          </a:p>
          <a:p>
            <a:pPr marL="0" indent="0" algn="just" fontAlgn="base">
              <a:buNone/>
            </a:pPr>
            <a:endParaRPr lang="en-N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06B925-2E98-B40B-245C-8CEA6306A59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 algn="just" fontAlgn="base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granularity</a:t>
            </a:r>
          </a:p>
          <a:p>
            <a:pPr algn="just" fontAlgn="base"/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commands processed at line level</a:t>
            </a:r>
            <a:endParaRPr lang="en-NP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r>
              <a:rPr lang="en-NP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heads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classifier (Stage 1)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Multi-class classifier (Stage 2)</a:t>
            </a:r>
            <a:endParaRPr lang="en-NP" sz="2400" dirty="0"/>
          </a:p>
        </p:txBody>
      </p:sp>
    </p:spTree>
    <p:extLst>
      <p:ext uri="{BB962C8B-B14F-4D97-AF65-F5344CB8AC3E}">
        <p14:creationId xmlns:p14="http://schemas.microsoft.com/office/powerpoint/2010/main" val="16190878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C78B0-E713-BEC7-8203-AE11C4FDF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39244-2EF5-911B-9D2F-979F08F34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Details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36862-656A-FD5D-4974-C2EB4262B4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configuration and optimization</a:t>
            </a:r>
          </a:p>
          <a:p>
            <a:endParaRPr lang="en-NP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2503BC-10A2-967A-B5B9-F5707FAF6F9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Optimizer: AdamW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Learning rate: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classification: 2 * 10</a:t>
            </a:r>
            <a:r>
              <a:rPr lang="en-NP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 classfication: 5 * 10</a:t>
            </a:r>
            <a:r>
              <a:rPr lang="en-NP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size: 32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Epochs: 3</a:t>
            </a:r>
          </a:p>
          <a:p>
            <a:pPr marL="0" indent="0" algn="just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strategy: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Validation-based loss monitoring</a:t>
            </a:r>
          </a:p>
          <a:p>
            <a:pPr lvl="1" algn="just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Gradient accumulation</a:t>
            </a:r>
          </a:p>
          <a:p>
            <a:pPr marL="0" indent="0" algn="just">
              <a:buNone/>
            </a:pPr>
            <a:endParaRPr lang="en-NP" sz="24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49F469-0FAF-984F-3218-1588A1C9ACFD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 algn="just" fontAlgn="base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Loss function:</a:t>
            </a:r>
          </a:p>
          <a:p>
            <a:pPr lvl="1" algn="just" fontAlgn="base"/>
            <a:r>
              <a:rPr lang="en-NP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classification: Cross-entropy loss</a:t>
            </a:r>
          </a:p>
          <a:p>
            <a:pPr lvl="1" algn="just" fontAlgn="base"/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 classification: Multi-class cross-entropy loss</a:t>
            </a:r>
          </a:p>
          <a:p>
            <a:pPr marL="0" indent="0" algn="just" fontAlgn="base">
              <a:buNone/>
            </a:pPr>
            <a:r>
              <a:rPr lang="en-N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persistence:</a:t>
            </a:r>
          </a:p>
          <a:p>
            <a:pPr lvl="1" algn="just" fontAlgn="base"/>
            <a:r>
              <a:rPr lang="en-NP" dirty="0">
                <a:latin typeface="Times New Roman" panose="02020603050405020304" pitchFamily="18" charset="0"/>
                <a:cs typeface="Times New Roman" panose="02020603050405020304" pitchFamily="18" charset="0"/>
              </a:rPr>
              <a:t>Epoch-wise checkpointing for reproducibility</a:t>
            </a:r>
          </a:p>
        </p:txBody>
      </p:sp>
    </p:spTree>
    <p:extLst>
      <p:ext uri="{BB962C8B-B14F-4D97-AF65-F5344CB8AC3E}">
        <p14:creationId xmlns:p14="http://schemas.microsoft.com/office/powerpoint/2010/main" val="28694376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E9EAA-6D08-FE42-1A00-8E4385BAD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2CEA0-4800-BF04-759F-FADF1C4C7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80208-0AE3-8B6D-B662-61D074B79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62A3ECD-EDB5-86B6-63F4-D703B497C44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50845030"/>
              </p:ext>
            </p:extLst>
          </p:nvPr>
        </p:nvGraphicFramePr>
        <p:xfrm>
          <a:off x="839786" y="2505074"/>
          <a:ext cx="4920867" cy="347303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41464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502846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376557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</a:tblGrid>
              <a:tr h="1157679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11576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Binary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1157677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 class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</a:tbl>
          </a:graphicData>
        </a:graphic>
      </p:graphicFrame>
      <p:pic>
        <p:nvPicPr>
          <p:cNvPr id="11" name="Content Placeholder 10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E16A5DDE-3FCE-469D-EEDC-03406A3522E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48" y="2505075"/>
            <a:ext cx="4664891" cy="3684588"/>
          </a:xfr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35E4B5-31CC-F959-5AA6-7AB1B0F9A8AD}"/>
              </a:ext>
            </a:extLst>
          </p:cNvPr>
          <p:cNvCxnSpPr>
            <a:cxnSpLocks/>
          </p:cNvCxnSpPr>
          <p:nvPr/>
        </p:nvCxnSpPr>
        <p:spPr>
          <a:xfrm>
            <a:off x="836612" y="2514600"/>
            <a:ext cx="2044611" cy="1143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2151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2D784-85C8-4B45-AA5E-D9AA76BBB3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8E456-3438-95CB-C606-200EA5D24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1764C-5B76-152D-42D7-3EB5F01C3C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classification performance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7D961C2-294C-A12E-FEAA-E4F402A3838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940333117"/>
              </p:ext>
            </p:extLst>
          </p:nvPr>
        </p:nvGraphicFramePr>
        <p:xfrm>
          <a:off x="839788" y="2505074"/>
          <a:ext cx="5103812" cy="343852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17360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558718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427734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</a:tblGrid>
              <a:tr h="1228569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5163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  <a:tr h="503505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F1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076269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AUC-ROC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0.9970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015286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ABF472D-881B-6666-78D9-C4730D2BE847}"/>
              </a:ext>
            </a:extLst>
          </p:cNvPr>
          <p:cNvCxnSpPr>
            <a:cxnSpLocks/>
          </p:cNvCxnSpPr>
          <p:nvPr/>
        </p:nvCxnSpPr>
        <p:spPr>
          <a:xfrm>
            <a:off x="836612" y="2514600"/>
            <a:ext cx="2139501" cy="121201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Content Placeholder 8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6AE7643-3214-2282-5D6E-ADF5866361A5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1348" y="2505075"/>
            <a:ext cx="4664891" cy="3684588"/>
          </a:xfrm>
        </p:spPr>
      </p:pic>
    </p:spTree>
    <p:extLst>
      <p:ext uri="{BB962C8B-B14F-4D97-AF65-F5344CB8AC3E}">
        <p14:creationId xmlns:p14="http://schemas.microsoft.com/office/powerpoint/2010/main" val="21118829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797A9-D636-7561-9C5F-06D83C149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</a:p>
        </p:txBody>
      </p:sp>
      <p:pic>
        <p:nvPicPr>
          <p:cNvPr id="9" name="Content Placeholder 8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85DB2530-8D19-CA24-18EC-729D8AF7C90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058194"/>
            <a:ext cx="5181600" cy="3886200"/>
          </a:xfrm>
        </p:spPr>
      </p:pic>
      <p:pic>
        <p:nvPicPr>
          <p:cNvPr id="6" name="Content Placeholder 5" descr="A blue squares with white text&#10;&#10;AI-generated content may be incorrect.">
            <a:extLst>
              <a:ext uri="{FF2B5EF4-FFF2-40B4-BE49-F238E27FC236}">
                <a16:creationId xmlns:a16="http://schemas.microsoft.com/office/drawing/2014/main" id="{A26AA802-CF06-BDEE-F39F-C69E583A2C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058194"/>
            <a:ext cx="5181600" cy="3886200"/>
          </a:xfr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F0E77A7-733F-7CEC-681C-DB39B6343D6B}"/>
              </a:ext>
            </a:extLst>
          </p:cNvPr>
          <p:cNvCxnSpPr>
            <a:cxnSpLocks/>
          </p:cNvCxnSpPr>
          <p:nvPr/>
        </p:nvCxnSpPr>
        <p:spPr>
          <a:xfrm>
            <a:off x="5977446" y="1690688"/>
            <a:ext cx="42354" cy="4802187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241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B5B1C-8F63-E9FC-8BAD-2AED611AA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6E1B7-8446-E705-093B-440F1262A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E392B7-29C5-DAAA-CA96-9548A8E27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Rule(Multi) classification performance (Overall)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EDDC360-51EE-52F2-4869-AB3D811D39C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34887897"/>
              </p:ext>
            </p:extLst>
          </p:nvPr>
        </p:nvGraphicFramePr>
        <p:xfrm>
          <a:off x="3712384" y="2518014"/>
          <a:ext cx="5103812" cy="343852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43359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332719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427734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</a:tblGrid>
              <a:tr h="1228569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5163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Macro-averaged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Weighted-averaged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  <a:tr h="503505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Top-1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076269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Top-3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0.8938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015286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AB4B96-C9BF-FFF3-EAC9-E815A59A984E}"/>
              </a:ext>
            </a:extLst>
          </p:cNvPr>
          <p:cNvCxnSpPr>
            <a:cxnSpLocks/>
          </p:cNvCxnSpPr>
          <p:nvPr/>
        </p:nvCxnSpPr>
        <p:spPr>
          <a:xfrm>
            <a:off x="3712384" y="2518014"/>
            <a:ext cx="2383616" cy="1225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0890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0C7C8-E6AB-8AFD-DF11-E6FBE42C2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129F6-8B21-F1B4-713A-811352122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Analysis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800F35-CDC3-AAE5-812C-64FDA5586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 class rule(multi) classification performance</a:t>
            </a:r>
          </a:p>
          <a:p>
            <a:endParaRPr lang="en-NP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DC805E9-F1A6-146B-1A80-1A78F780AADC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938339347"/>
              </p:ext>
            </p:extLst>
          </p:nvPr>
        </p:nvGraphicFramePr>
        <p:xfrm>
          <a:off x="3712384" y="2518014"/>
          <a:ext cx="5103812" cy="36201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43359">
                  <a:extLst>
                    <a:ext uri="{9D8B030D-6E8A-4147-A177-3AD203B41FA5}">
                      <a16:colId xmlns:a16="http://schemas.microsoft.com/office/drawing/2014/main" val="2842680239"/>
                    </a:ext>
                  </a:extLst>
                </a:gridCol>
                <a:gridCol w="1332719">
                  <a:extLst>
                    <a:ext uri="{9D8B030D-6E8A-4147-A177-3AD203B41FA5}">
                      <a16:colId xmlns:a16="http://schemas.microsoft.com/office/drawing/2014/main" val="1778962985"/>
                    </a:ext>
                  </a:extLst>
                </a:gridCol>
                <a:gridCol w="1427734">
                  <a:extLst>
                    <a:ext uri="{9D8B030D-6E8A-4147-A177-3AD203B41FA5}">
                      <a16:colId xmlns:a16="http://schemas.microsoft.com/office/drawing/2014/main" val="4213453222"/>
                    </a:ext>
                  </a:extLst>
                </a:gridCol>
              </a:tblGrid>
              <a:tr h="1228569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         Models</a:t>
                      </a:r>
                    </a:p>
                    <a:p>
                      <a:endParaRPr lang="en-NP" sz="1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RoBERTa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CodeBERT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6409324"/>
                  </a:ext>
                </a:extLst>
              </a:tr>
              <a:tr h="5163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 number of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040968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Average F1-score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0.7055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0.7136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6071243"/>
                  </a:ext>
                </a:extLst>
              </a:tr>
              <a:tr h="503505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Number of rules with F1 &gt; 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4076269"/>
                  </a:ext>
                </a:extLst>
              </a:tr>
              <a:tr h="595052"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Number of rules with F1 &lt; 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P" sz="1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3015286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A32C91-997F-0E28-4E3E-FA7C64FF8897}"/>
              </a:ext>
            </a:extLst>
          </p:cNvPr>
          <p:cNvCxnSpPr>
            <a:cxnSpLocks/>
          </p:cNvCxnSpPr>
          <p:nvPr/>
        </p:nvCxnSpPr>
        <p:spPr>
          <a:xfrm>
            <a:off x="3712384" y="2518014"/>
            <a:ext cx="2383616" cy="1225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26185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1107B-DFD6-102F-9E3C-76A2C2C48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9435-53EB-6B65-6B84-C1F7296A6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Inference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A72A80-1D35-A594-5E07-1AA100918F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0504DE5-073C-2C02-F46A-3F1E3A0425B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879627"/>
            <a:ext cx="5157787" cy="2935484"/>
          </a:xfrm>
        </p:spPr>
      </p:pic>
      <p:pic>
        <p:nvPicPr>
          <p:cNvPr id="9" name="Content Placeholder 8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A1030D46-46AF-2723-74CF-64DF4B4BAB20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879626"/>
            <a:ext cx="5183188" cy="2935485"/>
          </a:xfrm>
        </p:spPr>
      </p:pic>
    </p:spTree>
    <p:extLst>
      <p:ext uri="{BB962C8B-B14F-4D97-AF65-F5344CB8AC3E}">
        <p14:creationId xmlns:p14="http://schemas.microsoft.com/office/powerpoint/2010/main" val="14097115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B44EB-FE40-9729-4D7B-01FBD86F5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A53ED-DF5A-88EE-75DD-E52340E81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Inference</a:t>
            </a:r>
            <a:endParaRPr lang="en-NP" sz="32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5FF00-0986-8528-26F4-E2E6F1BC4D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90687"/>
            <a:ext cx="10512424" cy="814387"/>
          </a:xfrm>
        </p:spPr>
        <p:txBody>
          <a:bodyPr/>
          <a:lstStyle/>
          <a:p>
            <a:pPr algn="ctr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NP" dirty="0"/>
          </a:p>
        </p:txBody>
      </p:sp>
      <p:pic>
        <p:nvPicPr>
          <p:cNvPr id="8" name="Content Placeholder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5F0201C-2009-2DEE-65DA-3FDC02D46F6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874629"/>
            <a:ext cx="5157787" cy="2945480"/>
          </a:xfrm>
        </p:spPr>
      </p:pic>
      <p:pic>
        <p:nvPicPr>
          <p:cNvPr id="13" name="Content Placeholder 12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B8AD667-29B0-B089-D00A-3333244E55CB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2874629"/>
            <a:ext cx="5183188" cy="2945480"/>
          </a:xfrm>
        </p:spPr>
      </p:pic>
    </p:spTree>
    <p:extLst>
      <p:ext uri="{BB962C8B-B14F-4D97-AF65-F5344CB8AC3E}">
        <p14:creationId xmlns:p14="http://schemas.microsoft.com/office/powerpoint/2010/main" val="37709198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958A7-019B-B83C-3F00-5F0454F0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ED1DD8-4FA7-944C-EE16-CEFD33A70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binary misconfiguration detection, both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achieve excellent and identical performance (≈98% accuracy), demonstrating strong and reliable classification capability.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rule-specific misconfiguration classification,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performs slightly better than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RoBERTa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indicating its stronger ability to capture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-specific and semantic patterns.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selection depends on application needs: both models are suitable for large-scale binary detection, while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CodeBERT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more effective for detailed rule-level misconfiguration analysis.</a:t>
            </a:r>
          </a:p>
        </p:txBody>
      </p:sp>
    </p:spTree>
    <p:extLst>
      <p:ext uri="{BB962C8B-B14F-4D97-AF65-F5344CB8AC3E}">
        <p14:creationId xmlns:p14="http://schemas.microsoft.com/office/powerpoint/2010/main" val="2981434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0ACF6-26F2-66E2-34A7-D59271C0BA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77AD6-AB62-358D-2DFD-E9DD077E0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A322F-E58B-14A2-E9AD-BBEF8C1026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 rule-specific classification using larger and more diverse datasets, including data augmentation for rare rules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ensemble models or hybrid approaches combining transformers with rule-based heuristics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 the proposed models into CI/CD pipelines for real-time misconfiguration detection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the approach to other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IaC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technologies such as Terraform, CloudFormation, and Ansible</a:t>
            </a:r>
          </a:p>
        </p:txBody>
      </p:sp>
    </p:spTree>
    <p:extLst>
      <p:ext uri="{BB962C8B-B14F-4D97-AF65-F5344CB8AC3E}">
        <p14:creationId xmlns:p14="http://schemas.microsoft.com/office/powerpoint/2010/main" val="11692536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E807-49CB-DABB-2D46-85AC69D16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54429B-7E51-5116-BBF3-6374F116C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2C459-E4B1-7DC3-7F2B-B65D3B3AF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 S. Phillips, T. Zimmermann, and C. Bird, “Understanding and Improving Software Build Teams,”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Proc. -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May 2014,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10.1145/2568225.2568274.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[2] A. Vaswani et al., “Attention is All you Need,” in Neural Information Processing Systems, 2017. [Online]. Available: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https://api.semanticscholar.org/CorpusID:13756489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[3] J. Henkel, C. Bird, S. K. Lahiri, and T. Reps, “Learning from, Understanding, and Supporting DevOps Artifacts for Docker,”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2020 IEEE/ACM 42nd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38–49, 2020, [Online]. Available: https://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api.semanticscholar.org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/CorpusID:211069127</a:t>
            </a:r>
          </a:p>
          <a:p>
            <a:endParaRPr lang="en-US" dirty="0"/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19647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6B084-352E-76E4-EE54-60E95B99F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E33DC-3467-3ABF-9EE0-4D8B67FF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EEAFC-D034-7533-DA49-A60A16FF48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[4] J. Henkel, D. Silva, L. Teixeira, M.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d’Amorim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T. Reps, “Shipwright: A Human-in- the-Loop System for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Repair,”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2021 IEEE/ACM 43rd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1148–1160, 2021, [Online]. Available: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https://api.semanticscholar.org/CorpusID:232045443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[5] T. Shabani, N. Nashid, P. Alian, and A. Mesbah, “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Flakiness: Characterization and Repair,”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2025 IEEE/ACM 47th Int. Conf.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pp. 1793–1805, 2024, [Online]. Available: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https://api.semanticscholar.org/CorpusID:271855816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[6] D. W. Elliott, “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Linting: Every time, Everywhere,” 2020, [Online]. Available: https://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medium.com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/@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david.w.elliott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/dockerfile-linting-every-time-everywhere-d8d271a1e650</a:t>
            </a:r>
          </a:p>
          <a:p>
            <a:endParaRPr lang="en-US" dirty="0"/>
          </a:p>
          <a:p>
            <a:pPr algn="just"/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/>
          </a:p>
          <a:p>
            <a:endParaRPr lang="en-US" dirty="0"/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81327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BB9D8-B06A-01E9-FFDE-0D332584E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1A95-3EFD-AECF-C51A-C4DF3DCBB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NP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5E8E3-6A3A-A8DD-B445-940508558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[7] G. Rosa, S. Scalabrino, G. Robles, and R. Oliveto,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all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Smells are the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Same: An Empirical Evaluation of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Hadolint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Writing Practices by Experts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2024. doi:10.1145/3643991.3644905.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[8] Y. Zhou, W. Zhan, Z. Li, T. Han, T. Chen, and H. C. Gall, “DRIVE: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Dockerfile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Rule Mining and Violation Detection,” 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ACM Trans.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Softw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Eng. </a:t>
            </a:r>
            <a:r>
              <a:rPr lang="en-US" sz="24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Methodol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vol. 33, pp. 1–23, 2022, [Online]. Available: https://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api.semanticscholar.org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/CorpusID:254564701</a:t>
            </a:r>
          </a:p>
          <a:p>
            <a:pPr algn="just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[9] J. Henkel, C. Bird, S. K. Lahiri, and T. Reps, “ICSE 2020 Artifact for: Learning from, Understanding, and Supporting DevOps Artifacts for Docker.”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Zenodo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2020.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doi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10.5281/zenodo.3628771.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pPr algn="just"/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/>
          </a:p>
          <a:p>
            <a:endParaRPr lang="en-US" dirty="0"/>
          </a:p>
          <a:p>
            <a:pPr algn="just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5009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464169" y="3244334"/>
            <a:ext cx="521383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you!!!</a:t>
            </a:r>
            <a:endParaRPr lang="en-US" sz="4400" dirty="0"/>
          </a:p>
        </p:txBody>
      </p:sp>
    </p:spTree>
    <p:extLst>
      <p:ext uri="{BB962C8B-B14F-4D97-AF65-F5344CB8AC3E}">
        <p14:creationId xmlns:p14="http://schemas.microsoft.com/office/powerpoint/2010/main" val="4130928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2779</TotalTime>
  <Words>2258</Words>
  <Application>Microsoft Macintosh PowerPoint</Application>
  <PresentationFormat>Widescreen</PresentationFormat>
  <Paragraphs>365</Paragraphs>
  <Slides>35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0" baseType="lpstr">
      <vt:lpstr>Arial</vt:lpstr>
      <vt:lpstr>Calibri</vt:lpstr>
      <vt:lpstr>Calibri Light</vt:lpstr>
      <vt:lpstr>Times New Roman</vt:lpstr>
      <vt:lpstr>Office Theme</vt:lpstr>
      <vt:lpstr>Comparative Analysis of RoBERTa and CodeBERT for Automated Misconfiguration Detection in Dockerfiles</vt:lpstr>
      <vt:lpstr>ABSTRACT</vt:lpstr>
      <vt:lpstr>Outline</vt:lpstr>
      <vt:lpstr>Introduction</vt:lpstr>
      <vt:lpstr>PowerPoint Presentation</vt:lpstr>
      <vt:lpstr>Problem Statement</vt:lpstr>
      <vt:lpstr>Problem Statement</vt:lpstr>
      <vt:lpstr>Objectives</vt:lpstr>
      <vt:lpstr>Scope and Limitation</vt:lpstr>
      <vt:lpstr>PowerPoint Presentation</vt:lpstr>
      <vt:lpstr>Methodology</vt:lpstr>
      <vt:lpstr>Dataset Description</vt:lpstr>
      <vt:lpstr>Data Preprocessing</vt:lpstr>
      <vt:lpstr>Data Preprocessing</vt:lpstr>
      <vt:lpstr>Data Preprocessing</vt:lpstr>
      <vt:lpstr>Data Preprocessing</vt:lpstr>
      <vt:lpstr>Data Preprocessing</vt:lpstr>
      <vt:lpstr>Description of Algorithms</vt:lpstr>
      <vt:lpstr>Description of Algorithms</vt:lpstr>
      <vt:lpstr>Description of algorithms</vt:lpstr>
      <vt:lpstr>Implementation Details</vt:lpstr>
      <vt:lpstr>Implementation Details</vt:lpstr>
      <vt:lpstr>Result Analysis</vt:lpstr>
      <vt:lpstr>Result Analysis</vt:lpstr>
      <vt:lpstr>Result Analysis</vt:lpstr>
      <vt:lpstr>Result Analysis</vt:lpstr>
      <vt:lpstr>Result Analysis</vt:lpstr>
      <vt:lpstr>Inference</vt:lpstr>
      <vt:lpstr>Inference</vt:lpstr>
      <vt:lpstr>Conclusion</vt:lpstr>
      <vt:lpstr>Future Recommendation</vt:lpstr>
      <vt:lpstr>References</vt:lpstr>
      <vt:lpstr>References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Calculation of Ejection Fraction of Eco Cardiography U</dc:title>
  <dc:creator>Lenovo</dc:creator>
  <cp:lastModifiedBy>Deepak Aryal</cp:lastModifiedBy>
  <cp:revision>171</cp:revision>
  <dcterms:created xsi:type="dcterms:W3CDTF">2025-11-22T14:51:18Z</dcterms:created>
  <dcterms:modified xsi:type="dcterms:W3CDTF">2026-01-24T00:38:42Z</dcterms:modified>
</cp:coreProperties>
</file>