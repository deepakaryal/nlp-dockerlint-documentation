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35"/>
  </p:notesMasterIdLst>
  <p:sldIdLst>
    <p:sldId id="256" r:id="rId2"/>
    <p:sldId id="333" r:id="rId3"/>
    <p:sldId id="334" r:id="rId4"/>
    <p:sldId id="335" r:id="rId5"/>
    <p:sldId id="336" r:id="rId6"/>
    <p:sldId id="337" r:id="rId7"/>
    <p:sldId id="339" r:id="rId8"/>
    <p:sldId id="340" r:id="rId9"/>
    <p:sldId id="342" r:id="rId10"/>
    <p:sldId id="346" r:id="rId11"/>
    <p:sldId id="347" r:id="rId12"/>
    <p:sldId id="348" r:id="rId13"/>
    <p:sldId id="349" r:id="rId14"/>
    <p:sldId id="350" r:id="rId15"/>
    <p:sldId id="351" r:id="rId16"/>
    <p:sldId id="354" r:id="rId17"/>
    <p:sldId id="355" r:id="rId18"/>
    <p:sldId id="360" r:id="rId19"/>
    <p:sldId id="364" r:id="rId20"/>
    <p:sldId id="366" r:id="rId21"/>
    <p:sldId id="376" r:id="rId22"/>
    <p:sldId id="377" r:id="rId23"/>
    <p:sldId id="378" r:id="rId24"/>
    <p:sldId id="379" r:id="rId25"/>
    <p:sldId id="386" r:id="rId26"/>
    <p:sldId id="380" r:id="rId27"/>
    <p:sldId id="381" r:id="rId28"/>
    <p:sldId id="368" r:id="rId29"/>
    <p:sldId id="369" r:id="rId30"/>
    <p:sldId id="370" r:id="rId31"/>
    <p:sldId id="371" r:id="rId32"/>
    <p:sldId id="372" r:id="rId33"/>
    <p:sldId id="32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3483"/>
  </p:normalViewPr>
  <p:slideViewPr>
    <p:cSldViewPr snapToGrid="0">
      <p:cViewPr varScale="1">
        <p:scale>
          <a:sx n="146" d="100"/>
          <a:sy n="146" d="100"/>
        </p:scale>
        <p:origin x="1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12B51-1BBE-4740-916F-8C659B452C5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CF212-7DED-4520-840E-C07B7ABEE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9C44-3358-8262-B546-853E1EB8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2F582-5583-80AC-7743-00400C486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95D17-3986-4365-8152-0AB2920C4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634-5ACC-53C7-F7D9-489EF6952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6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combined a well-established ICSE 2020 </a:t>
            </a:r>
            <a:r>
              <a:rPr lang="en-US" dirty="0" err="1"/>
              <a:t>Dockerfile</a:t>
            </a:r>
            <a:r>
              <a:rPr lang="en-US" dirty="0"/>
              <a:t> corpus with newer </a:t>
            </a:r>
            <a:r>
              <a:rPr lang="en-US" dirty="0" err="1"/>
              <a:t>Dockerfiles</a:t>
            </a:r>
            <a:r>
              <a:rPr lang="en-US" dirty="0"/>
              <a:t> from GitHub to capture both historical and recent Docker practices. This ensures relevance while maintaining research reliability.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BFE5-70E1-61BD-35C7-9EFFA9AE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E2EA8-F307-AEE8-F3A6-88A3D87DA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762B7-CC0C-5039-33EE-A7834DF7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72B4-61FB-FD7C-9FDB-E42D13F42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7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2930-29D5-A584-BD65-AE13D61A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4942-7A21-7054-AF53-621198B88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00C3A-3371-2BC8-D85E-F5317BCC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C789E-ADDD-3672-F704-5305899B1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5F96-3C82-56F3-AE44-C2FF47CA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9A3DC-483A-E240-1F6F-95113A94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10045-7C08-DCB0-F63F-7251A309E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5EFAB-3089-8F89-2246-76A4AB974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DB3-CFBA-D6B5-3C7C-37EFE2BE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25FA4-BC34-FDC5-83E3-08A292EDF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75219-A0DD-EA3C-F386-DD7ECF18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CC83F-586F-BE1D-EA1A-2728B371B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4284-9E8A-510F-1C40-7EE455A4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0F4D7-CB32-7F98-3ACE-4965EAE5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27608-1BB3-DE4F-7A9B-4F602FE9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9C0-6051-EC2F-0FEC-AA7D60121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3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Cross-entropy loss is well-suited for probabilistic multi-class classification and aligns with the </a:t>
            </a:r>
            <a:r>
              <a:rPr lang="en-US" dirty="0" err="1"/>
              <a:t>softmax</a:t>
            </a:r>
            <a:r>
              <a:rPr lang="en-US" dirty="0"/>
              <a:t>-based output layer used in both models.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3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1B2A-0B64-578A-F115-BBB17805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47586-2366-A637-7B19-ADD3B88EF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9784A-EED3-17AE-FBC8-30AA8C1A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C5207-A9AF-58E7-B636-331E3A9C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6654-A234-D3A7-57A5-4275FB1E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83C1-CB08-D329-EB13-6FB9845B6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EA3CB-8605-B687-6619-82630AAB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27345-DC7A-2E6A-2552-A218EC340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2921-BD0D-5FFC-1B76-F755B200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16048-03E8-7877-8656-7DCC7112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C81C8-C244-D66C-F154-B6E98F3F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95C5-69BB-2D32-1BFE-C158FE758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96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2979-0B04-53E4-F962-9A472DB6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E75EC-3842-83A9-53E1-32637C71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5FF4C-2401-7DD1-6112-4B2B1C25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F0BF-EDDA-4004-D46C-34807870E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61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3813-FEA2-42F6-9480-97D6D1553758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9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B741-4786-40F0-B291-DF879061B863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0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7C2A-953A-4930-897A-083C625CCBF5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7A9A-E8B0-4AC4-A041-3570860C4141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1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47BD2-6660-4B44-93F6-4ED7B9FE4617}" type="datetime1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E6F-55C6-4D82-8F14-65F1D3A42F48}" type="datetime1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3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C08-EB8A-4AAD-8191-B20CCB1CAFE0}" type="datetime1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CD24-ACE9-4223-9171-AECE615FB3C3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7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79FA2-1D8B-4708-92E1-BA6164E68805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8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B5899-D66E-450D-B498-474F1836B93C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29D5-E30D-4474-9225-3E79467B42A7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6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F7D7-7AD1-4749-8460-879CB9012590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semanticscholar.org/CorpusID:13756489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emanticscholar.org/CorpusID:271855816" TargetMode="External"/><Relationship Id="rId2" Type="http://schemas.openxmlformats.org/officeDocument/2006/relationships/hyperlink" Target="https://api.semanticscholar.org/CorpusID:232045443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431"/>
            <a:ext cx="10515600" cy="89899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</a:rPr>
              <a:t>Comparative Analysis of </a:t>
            </a:r>
            <a:r>
              <a:rPr lang="en-US" sz="2800" b="1" dirty="0" err="1">
                <a:latin typeface="Times New Roman" panose="02020603050405020304" pitchFamily="18" charset="0"/>
              </a:rPr>
              <a:t>RoBERTa</a:t>
            </a:r>
            <a:r>
              <a:rPr lang="en-US" sz="2800" b="1" dirty="0">
                <a:latin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</a:rPr>
              <a:t>CodeBERT</a:t>
            </a:r>
            <a:r>
              <a:rPr lang="en-US" sz="2800" b="1" dirty="0">
                <a:latin typeface="Times New Roman" panose="02020603050405020304" pitchFamily="18" charset="0"/>
              </a:rPr>
              <a:t> for Automated Misconfiguration Detection in </a:t>
            </a:r>
            <a:r>
              <a:rPr lang="en-US" sz="2800" b="1" dirty="0" err="1">
                <a:latin typeface="Times New Roman" panose="02020603050405020304" pitchFamily="18" charset="0"/>
              </a:rPr>
              <a:t>Dockerfiles</a:t>
            </a:r>
            <a:endParaRPr 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423" y="1336431"/>
            <a:ext cx="10515600" cy="531055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(MIT Thesis Viva Voce Examination)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Tribhuvan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Science and Technology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Department of Computer Science &amp; Information Technology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(CDCSIT TU)</a:t>
            </a:r>
          </a:p>
          <a:p>
            <a:pPr marL="0" indent="0" algn="ctr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Aryal							         Asst. Prof. Bikash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Balami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Roll no: 7925005 	                                                                                                            	                     CDCSIT TU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CDCSIT TU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January 26,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34" y="1808285"/>
            <a:ext cx="2083778" cy="208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5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45E2-640C-85F0-DAFE-2BD4A814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8016-8B32-A5BF-FC78-528469ECD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explores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 using transformer-based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framework is proposed for binary and rule-specific misconfiguration classification.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evaluated on a dataset of 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high detection accuracy,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3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F9BE-7E3F-D993-6375-1CEACF91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12B5-8B1C-F949-4642-8A02058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8E59-852F-18EB-8BAE-08ED833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91445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1421B1-7BFE-AA03-EB28-2F32C387C847}"/>
              </a:ext>
            </a:extLst>
          </p:cNvPr>
          <p:cNvSpPr txBox="1">
            <a:spLocks/>
          </p:cNvSpPr>
          <p:nvPr/>
        </p:nvSpPr>
        <p:spPr>
          <a:xfrm>
            <a:off x="6862354" y="1825625"/>
            <a:ext cx="44914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3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8DA0-F048-3B1D-4ED2-FB89AA4B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869A-7B43-3747-3EAA-1E57435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F902-5D57-A289-9106-2D2346E7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a core technology in modern DevOps for building and deploying applications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container build processes but are complex and under-analyzed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security vulnerabilities and build failures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detect rule violations but fail to generalize to complex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evaluates transformer-based NLP models to improve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 detection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8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1D0D-AE5E-02F9-33BF-787D65C2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3624-1FA1-AE4B-80A5-1D1C2CD5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naturally leads to the problem addressed in this thesis.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6ED7-06B1-5D4F-8ABE-18CC6DD6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AAC0-6A52-2DE3-46BA-F5ED60DE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violate best practices and contain security risks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engineers lack deep security expertise when writing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rule based and limited to predefined checks which fail to detect unseen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NLP/AI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still underexplored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24116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1A82-DF67-6510-4F94-3DC6BD86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1B530-1E2E-99FE-9925-E4891F8D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raefik:latest [v2.11.34]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93193-EB3C-C2B1-426B-0CB8DA45E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1788F-0E1F-A0C0-9A8F-E05662D4B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traefik:latest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[v3.6.6]</a:t>
            </a:r>
            <a:endParaRPr lang="en-N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7BE9-86EA-3C80-96A5-2DAB9B3C8C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.${PROJECT}.rule=Host(`a	pi.${DOMAIN}`) || ((Host(` 	app.${DOMAIN}`)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`)) </a:t>
            </a:r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B1E46B2-B137-73C7-B3FD-0928897F3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612" y="3126002"/>
            <a:ext cx="823912" cy="82391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4D5CF45-27F5-485A-9A68-E3E7A0AFC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4427" y="4236214"/>
            <a:ext cx="914400" cy="914400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7E17E8B1-5941-4604-228A-82C4F0FE8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427" y="2906713"/>
            <a:ext cx="914400" cy="9144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7580F-F143-1D83-330C-26A1CBE6B604}"/>
              </a:ext>
            </a:extLst>
          </p:cNvPr>
          <p:cNvCxnSpPr>
            <a:cxnSpLocks/>
          </p:cNvCxnSpPr>
          <p:nvPr/>
        </p:nvCxnSpPr>
        <p:spPr>
          <a:xfrm>
            <a:off x="5997575" y="1594022"/>
            <a:ext cx="22226" cy="50415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3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22D2-4A1F-78CC-A4B5-DFE21377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74B-F417-6700-9DA3-62B9AD66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840C-0859-5DCC-DC5B-1C6E1DE8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automated detection framework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performance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misconfiguration detection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metrics such as accuracy, precision, recall, F1-score, and AUC-ROC</a:t>
            </a: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6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2270-506F-DCC7-A907-57F3C660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860F-0450-03BE-235A-070113F035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type: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Static, NLP-based evaluation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| Precision | Recall | F1-score | AUC-ROC</a:t>
            </a:r>
          </a:p>
          <a:p>
            <a:pPr marL="0" indent="0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7BC9F-6CEF-A18F-A58B-19F6CCBDD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🐳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Dockerfiles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Dockerfiels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RoBERTa and CodeBERT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computational power may affect experiments and tuning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CC57F-DE13-7370-1042-E71BA73C0B7A}"/>
              </a:ext>
            </a:extLst>
          </p:cNvPr>
          <p:cNvCxnSpPr>
            <a:cxnSpLocks/>
          </p:cNvCxnSpPr>
          <p:nvPr/>
        </p:nvCxnSpPr>
        <p:spPr>
          <a:xfrm>
            <a:off x="6049347" y="1690688"/>
            <a:ext cx="0" cy="35369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37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1BC4-A338-8090-8215-E2AB91E4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F226-7569-E0A1-24D6-2476C936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D56F41-8BEF-C6EA-AF7A-107FCC17C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86154"/>
              </p:ext>
            </p:extLst>
          </p:nvPr>
        </p:nvGraphicFramePr>
        <p:xfrm>
          <a:off x="838200" y="1512117"/>
          <a:ext cx="10515600" cy="51542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383">
                  <a:extLst>
                    <a:ext uri="{9D8B030D-6E8A-4147-A177-3AD203B41FA5}">
                      <a16:colId xmlns:a16="http://schemas.microsoft.com/office/drawing/2014/main" val="3610803471"/>
                    </a:ext>
                  </a:extLst>
                </a:gridCol>
                <a:gridCol w="3380171">
                  <a:extLst>
                    <a:ext uri="{9D8B030D-6E8A-4147-A177-3AD203B41FA5}">
                      <a16:colId xmlns:a16="http://schemas.microsoft.com/office/drawing/2014/main" val="3694535918"/>
                    </a:ext>
                  </a:extLst>
                </a:gridCol>
                <a:gridCol w="1574439">
                  <a:extLst>
                    <a:ext uri="{9D8B030D-6E8A-4147-A177-3AD203B41FA5}">
                      <a16:colId xmlns:a16="http://schemas.microsoft.com/office/drawing/2014/main" val="1246209434"/>
                    </a:ext>
                  </a:extLst>
                </a:gridCol>
                <a:gridCol w="2474116">
                  <a:extLst>
                    <a:ext uri="{9D8B030D-6E8A-4147-A177-3AD203B41FA5}">
                      <a16:colId xmlns:a16="http://schemas.microsoft.com/office/drawing/2014/main" val="119443403"/>
                    </a:ext>
                  </a:extLst>
                </a:gridCol>
                <a:gridCol w="2418491">
                  <a:extLst>
                    <a:ext uri="{9D8B030D-6E8A-4147-A177-3AD203B41FA5}">
                      <a16:colId xmlns:a16="http://schemas.microsoft.com/office/drawing/2014/main" val="3426055835"/>
                    </a:ext>
                  </a:extLst>
                </a:gridCol>
              </a:tblGrid>
              <a:tr h="478580"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12485"/>
                  </a:ext>
                </a:extLst>
              </a:tr>
              <a:tr h="889460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from, DevOps Artifacts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&amp; non-expert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Non-expert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violate best practices ~6× more</a:t>
                      </a:r>
                      <a:endParaRPr lang="en-NP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adaptive AI methods for complex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08580"/>
                  </a:ext>
                </a:extLst>
              </a:tr>
              <a:tr h="618667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repair suggestions; Improves build correctness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build failure, not misconfiguration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995932"/>
                  </a:ext>
                </a:extLst>
              </a:tr>
              <a:tr h="618668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Flakiness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Flaky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Characterizes flakiness; Improves repair success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line-level security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69396"/>
                  </a:ext>
                </a:extLst>
              </a:tr>
              <a:tr h="584975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Workflows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consistent quality via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misconfiguration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23207"/>
                  </a:ext>
                </a:extLst>
              </a:tr>
              <a:tr h="652359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Smells are the Same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39,000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Experts overlook smells; Validates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detection explored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099022"/>
                  </a:ext>
                </a:extLst>
              </a:tr>
              <a:tr h="614512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DRIVE: Rule Mining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semantic &amp; syntactic rules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static rules, not AI/NLP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0766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6F210AD2-70C5-AB57-8F39-94CA4E1B532E}"/>
              </a:ext>
            </a:extLst>
          </p:cNvPr>
          <p:cNvSpPr txBox="1">
            <a:spLocks/>
          </p:cNvSpPr>
          <p:nvPr/>
        </p:nvSpPr>
        <p:spPr>
          <a:xfrm>
            <a:off x="838200" y="3598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275950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7961-1010-C4B9-7F5C-CEC97B5B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B829-C45B-D7BD-5BF0-9569437B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NP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FE17C8-887F-2EDC-E966-144BCFF3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</a:t>
            </a: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B4B1F2B3-D67B-873D-E055-EEFD13941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4" y="1415645"/>
            <a:ext cx="5055080" cy="500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4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668C-FD1A-0DEE-161E-174004F5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550B-0291-FA53-E81D-F429D0EE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536C-81BD-E470-8E85-4D290B9C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Publicly available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GitHub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Corpus: Henkel et al.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corpus (ICSE 2020)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~178,000 real-world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data: Additional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via GitHub Search API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and labels: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parsed line by line; each instruction (e.g., FROM, RUN, COPY) labeled as correct or wrong for training and evaluation of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178,800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~1.6 million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305018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3075-E86D-4B6C-295D-7A694F80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00EF-56F9-FE6C-0D40-95896796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4E14-E56E-ABC7-5642-59672BF92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strategy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Binary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vs wrong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Rule-specific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instructions with rule id</a:t>
            </a:r>
          </a:p>
          <a:p>
            <a:pPr marL="457200" lvl="1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487F-0F8B-BB2C-9B3C-E7CAAD71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0857-A801-5372-7C09-623B68ED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8570-A31F-32D5-AB01-5BF97676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splitting into: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80%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10%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strategies for stage 1 and stage 2</a:t>
            </a:r>
          </a:p>
        </p:txBody>
      </p:sp>
    </p:spTree>
    <p:extLst>
      <p:ext uri="{BB962C8B-B14F-4D97-AF65-F5344CB8AC3E}">
        <p14:creationId xmlns:p14="http://schemas.microsoft.com/office/powerpoint/2010/main" val="90537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34F6-26F8-11BD-E982-3E8A9DEBD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C93-0C39-9773-C9FA-B7055A51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337-CBD5-D05D-2B66-F776EC16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71DD0-357F-29AF-A086-35344F311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97944"/>
              </p:ext>
            </p:extLst>
          </p:nvPr>
        </p:nvGraphicFramePr>
        <p:xfrm>
          <a:off x="838200" y="2262608"/>
          <a:ext cx="10515600" cy="4049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588899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4775476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534838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77614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vs Wrong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Rule-level misconfiguration classification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02203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Misconfigured instructions only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reduction and balancing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Downsampled and selected 200K samples per 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Rare rules removed (&lt;200 samples) and capped dominant rules (&lt;=5K)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split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(rule-stratified)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641231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 multi-class learning and fair cimputational feasibility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9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F937-B155-1CC4-1CEC-A1611280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8337-8F2F-734D-BF91-4E28BDD4C2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encoding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subword tokenization applied for both learning stages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input length of 256 tokens with truncation and padding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only label encoding, with pre-tokenized inputs stored for efficient reuse </a:t>
            </a:r>
          </a:p>
        </p:txBody>
      </p:sp>
      <p:pic>
        <p:nvPicPr>
          <p:cNvPr id="6" name="Content Placeholder 5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8D0631E-3C4F-AB76-03A1-6288F60157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00296"/>
            <a:ext cx="5181600" cy="2401996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289523-FC20-0204-7C48-AA51677A872C}"/>
              </a:ext>
            </a:extLst>
          </p:cNvPr>
          <p:cNvCxnSpPr>
            <a:cxnSpLocks/>
          </p:cNvCxnSpPr>
          <p:nvPr/>
        </p:nvCxnSpPr>
        <p:spPr>
          <a:xfrm>
            <a:off x="6131283" y="1578544"/>
            <a:ext cx="0" cy="416664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5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233A-2933-5C93-6B3D-271E6508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A20A-40D1-0A9B-A3A9-369D2915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2741-87C2-82F7-2437-D047BC85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E481A1-F360-3B5A-3282-9B1324237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06188"/>
              </p:ext>
            </p:extLst>
          </p:nvPr>
        </p:nvGraphicFramePr>
        <p:xfrm>
          <a:off x="838200" y="2262608"/>
          <a:ext cx="10515600" cy="39480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342364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5022011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181356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0985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39681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(correct vs wrong)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26138"/>
                  </a:ext>
                </a:extLst>
              </a:tr>
              <a:tr h="42269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2,00,000 per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Filtered 200+ samples, capped at 5,000 per rule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08251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samples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1,73,297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43628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 (80%)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3,20,000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1,38,637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414068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761513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34257"/>
                  </a:ext>
                </a:extLst>
              </a:tr>
              <a:tr h="388189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violated rule if misconfigured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6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1879-9862-AA50-32A1-6917119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1B761-ABE4-D699-EB5D-F2A41B506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3872" y="1825625"/>
            <a:ext cx="6039928" cy="4351338"/>
          </a:xfrm>
        </p:spPr>
        <p:txBody>
          <a:bodyPr>
            <a:noAutofit/>
          </a:bodyPr>
          <a:lstStyle/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RNNs/LSTMs: parallel training on large datasets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mechanism: focuses on most relevant words in context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Encoder/Decoder: encoder for classification, both for translation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Self-attention: captures dependencies even across distant words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encoding: keeps track of word order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F5FC65-3FC0-942B-CD03-6A1BEA9169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598" y="1825625"/>
            <a:ext cx="327080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BD1C-B7A6-A84B-368D-9689941F6E2B}"/>
              </a:ext>
            </a:extLst>
          </p:cNvPr>
          <p:cNvCxnSpPr>
            <a:cxnSpLocks/>
          </p:cNvCxnSpPr>
          <p:nvPr/>
        </p:nvCxnSpPr>
        <p:spPr>
          <a:xfrm>
            <a:off x="5135670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743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EB1A-085F-5E33-A77D-FE297977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15CD-62FC-DEA8-E6CB-DAC2C10F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51F9-37D2-B0AA-8911-0F6BC318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only transformer architecture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version of BERT with larger datasets and better training strategies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masking: different tokens are masked in each epoch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6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BF58-3300-350D-BBDD-CDDB3B3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4A3F6-D470-35B2-4C09-7AFA5AAF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A65CE-1763-9FAB-17F5-DC5E98BFF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self-attention layers producing contextualized token representations.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tokens =&gt; embedding vectors =&gt; processed by encoder layers.</a:t>
            </a:r>
          </a:p>
          <a:p>
            <a:pPr marL="0" indent="0" algn="ctr" fontAlgn="base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(Q,K,V)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(QK</a:t>
            </a:r>
            <a:r>
              <a:rPr lang="en-US" sz="3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NP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√d</a:t>
            </a:r>
            <a:r>
              <a:rPr lang="en-NP" sz="3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)V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Q, K, V: query, key, value from embeddings and dk: dimension of key vectors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NP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E5AB-90D8-64FE-1AA3-38333C33CE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[CLS] token embedding from the encoder is passed through a feed-forward layer to produce a probability distribution over class labels, enabling classification of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correct or misconfigured.</a:t>
            </a:r>
          </a:p>
          <a:p>
            <a:pPr marL="0" indent="0" algn="ctr" fontAlgn="base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(W.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hCLS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b)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W,b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trainable parameters and y = probability distribution overs classes</a:t>
            </a:r>
          </a:p>
          <a:p>
            <a:pPr marL="0" indent="0">
              <a:buNone/>
            </a:pPr>
            <a:endParaRPr lang="en-NP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6348A-5507-DED3-60BC-A77C9A6062B3}"/>
              </a:ext>
            </a:extLst>
          </p:cNvPr>
          <p:cNvCxnSpPr>
            <a:cxnSpLocks/>
          </p:cNvCxnSpPr>
          <p:nvPr/>
        </p:nvCxnSpPr>
        <p:spPr>
          <a:xfrm>
            <a:off x="6042533" y="2097880"/>
            <a:ext cx="53467" cy="40917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142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9C8F-7FA3-D605-CCAE-EF8F24EC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6B7B-11AB-723C-8490-F2E7A668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71D0-C564-97C3-B1CE-C42BB9925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and input processing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FC2C7-622A-547C-DBB2-2F7AAC4C0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(text-oriented)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(code-aware)</a:t>
            </a:r>
          </a:p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tokenizers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sequence length: 256 tokens</a:t>
            </a:r>
          </a:p>
          <a:p>
            <a:pPr marL="0" indent="0" algn="just" fontAlgn="base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6B925-2E98-B40B-245C-8CEA6306A5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granularity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commands processed at line level</a:t>
            </a:r>
            <a:endParaRPr lang="en-N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heads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classifier (Stage 1)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classifier (Stage 2)</a:t>
            </a:r>
            <a:endParaRPr lang="en-NP" sz="2400" dirty="0"/>
          </a:p>
        </p:txBody>
      </p:sp>
    </p:spTree>
    <p:extLst>
      <p:ext uri="{BB962C8B-B14F-4D97-AF65-F5344CB8AC3E}">
        <p14:creationId xmlns:p14="http://schemas.microsoft.com/office/powerpoint/2010/main" val="1619087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78B0-E713-BEC7-8203-AE11C4FD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9244-2EF5-911B-9D2F-979F08F3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36862-656A-FD5D-4974-C2EB4262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 and optimization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03BC-10A2-967A-B5B9-F5707FAF6F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AdamW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2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classfication: 5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3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Validation-based loss monitoring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accumulation</a:t>
            </a:r>
          </a:p>
          <a:p>
            <a:pPr marL="0" indent="0" algn="just">
              <a:buNone/>
            </a:pPr>
            <a:endParaRPr lang="en-NP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9F469-0FAF-984F-3218-1588A1C9AC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</a:p>
          <a:p>
            <a:pPr lvl="1" algn="just" fontAlgn="base"/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Cross-entropy loss</a:t>
            </a:r>
          </a:p>
          <a:p>
            <a:pPr lvl="1" algn="just" fontAlgn="base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classification: Multi-class cross-entropy loss</a:t>
            </a:r>
          </a:p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persistence:</a:t>
            </a:r>
          </a:p>
          <a:p>
            <a:pPr lvl="1" algn="just" fontAlgn="base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Epoch-wise checkpointing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86943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9EAA-6D08-FE42-1A00-8E4385BA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EA0-4800-BF04-759F-FADF1C4C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0208-0AE3-8B6D-B662-61D074B7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2A3ECD-EDB5-86B6-63F4-D703B497C4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6068090"/>
              </p:ext>
            </p:extLst>
          </p:nvPr>
        </p:nvGraphicFramePr>
        <p:xfrm>
          <a:off x="839786" y="2505074"/>
          <a:ext cx="5256214" cy="3473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3930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254367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337553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  <a:gridCol w="960364">
                  <a:extLst>
                    <a:ext uri="{9D8B030D-6E8A-4147-A177-3AD203B41FA5}">
                      <a16:colId xmlns:a16="http://schemas.microsoft.com/office/drawing/2014/main" val="3418836807"/>
                    </a:ext>
                  </a:extLst>
                </a:gridCol>
              </a:tblGrid>
              <a:tr h="115767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class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</a:tbl>
          </a:graphicData>
        </a:graphic>
      </p:graphicFrame>
      <p:pic>
        <p:nvPicPr>
          <p:cNvPr id="11" name="Content Placeholder 1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16A5DDE-3FCE-469D-EEDC-03406A3522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35E4B5-31CC-F959-5AA6-7AB1B0F9A8AD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1708468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15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D784-85C8-4B45-AA5E-D9AA76BB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E456-3438-95CB-C606-200EA5D2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764C-5B76-152D-42D7-3EB5F01C3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D961C2-294C-A12E-FEAA-E4F402A383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0333117"/>
              </p:ext>
            </p:extLst>
          </p:nvPr>
        </p:nvGraphicFramePr>
        <p:xfrm>
          <a:off x="839788" y="2505074"/>
          <a:ext cx="5103812" cy="34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7360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558718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BF472D-881B-6666-78D9-C4730D2BE847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2139501" cy="1212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6AE7643-3214-2282-5D6E-ADF5866361A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</p:spTree>
    <p:extLst>
      <p:ext uri="{BB962C8B-B14F-4D97-AF65-F5344CB8AC3E}">
        <p14:creationId xmlns:p14="http://schemas.microsoft.com/office/powerpoint/2010/main" val="2111882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97A9-D636-7561-9C5F-06D83C14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pic>
        <p:nvPicPr>
          <p:cNvPr id="9" name="Content Placeholder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85DB2530-8D19-CA24-18EC-729D8AF7C9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6" name="Content Placeholder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A26AA802-CF06-BDEE-F39F-C69E583A2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E77A7-733F-7CEC-681C-DB39B6343D6B}"/>
              </a:ext>
            </a:extLst>
          </p:cNvPr>
          <p:cNvCxnSpPr>
            <a:cxnSpLocks/>
          </p:cNvCxnSpPr>
          <p:nvPr/>
        </p:nvCxnSpPr>
        <p:spPr>
          <a:xfrm>
            <a:off x="5977446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4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5B1C-8F63-E9FC-8BAD-2AED611A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E1B7-8446-E705-093B-440F1262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92B7-29C5-DAAA-CA96-9548A8E2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Rule(Multi) classification performance (Overall)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DDC360-51EE-52F2-4869-AB3D811D39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7003301"/>
              </p:ext>
            </p:extLst>
          </p:nvPr>
        </p:nvGraphicFramePr>
        <p:xfrm>
          <a:off x="3169920" y="2505074"/>
          <a:ext cx="5958840" cy="3496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7886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215862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51098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  <a:gridCol w="1094108">
                  <a:extLst>
                    <a:ext uri="{9D8B030D-6E8A-4147-A177-3AD203B41FA5}">
                      <a16:colId xmlns:a16="http://schemas.microsoft.com/office/drawing/2014/main" val="998074221"/>
                    </a:ext>
                  </a:extLst>
                </a:gridCol>
              </a:tblGrid>
              <a:tr h="1233133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642458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537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Top-1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726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Top-3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AB4B96-C9BF-FFF3-EAC9-E815A59A984E}"/>
              </a:ext>
            </a:extLst>
          </p:cNvPr>
          <p:cNvCxnSpPr>
            <a:cxnSpLocks/>
          </p:cNvCxnSpPr>
          <p:nvPr/>
        </p:nvCxnSpPr>
        <p:spPr>
          <a:xfrm>
            <a:off x="3166744" y="2505074"/>
            <a:ext cx="2121536" cy="12439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89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C7C8-E6AB-8AFD-DF11-E6FBE42C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9F6-8B21-F1B4-713A-81135212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0F35-CDC3-AAE5-812C-64FDA55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class rule(multi)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DC805E9-F1A6-146B-1A80-1A78F780AA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56606589"/>
              </p:ext>
            </p:extLst>
          </p:nvPr>
        </p:nvGraphicFramePr>
        <p:xfrm>
          <a:off x="3712384" y="2518014"/>
          <a:ext cx="5103812" cy="3665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359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 (+1.15%)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&gt;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&lt;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A32C91-997F-0E28-4E3E-FA7C64FF8897}"/>
              </a:ext>
            </a:extLst>
          </p:cNvPr>
          <p:cNvCxnSpPr>
            <a:cxnSpLocks/>
          </p:cNvCxnSpPr>
          <p:nvPr/>
        </p:nvCxnSpPr>
        <p:spPr>
          <a:xfrm>
            <a:off x="3712384" y="2518014"/>
            <a:ext cx="2383616" cy="1225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618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58A7-019B-B83C-3F00-5F0454F0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1DD8-4FA7-944C-EE16-CEFD33A70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binary misconfiguration detection, both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excellent and identical performance (≈98% accuracy), demonstrating strong and reliable classification capability.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rule-specific misconfiguration classification,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its stronger ability to capture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-specific and semantic patterns.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nearly three times more parameters, its general text pretraining limits its effectiveness for code analysis, while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centric training enables better rule specific detection.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are suitable for large-scale binary detection, but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more effective choice for detailed rule-level analysis due to its code-aware training.</a:t>
            </a:r>
          </a:p>
        </p:txBody>
      </p:sp>
    </p:spTree>
    <p:extLst>
      <p:ext uri="{BB962C8B-B14F-4D97-AF65-F5344CB8AC3E}">
        <p14:creationId xmlns:p14="http://schemas.microsoft.com/office/powerpoint/2010/main" val="2981434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ACF6-26F2-66E2-34A7-D59271C0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7AD6-AB62-358D-2DFD-E9DD077E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322F-E58B-14A2-E9AD-BBEF8C10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rule-specific classification using larger and more diverse datasets, including data augmentation for rare rules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ensemble models or hybrid approaches combining transformers with rule-based heuristics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detection framework as a pre-commit Git hook to provide instant feedback on misconfigurations and best practice violations.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proposed models into CI/CD pipelines for real-time misconfiguration detection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approach to other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such as Terraform, CloudFormation, and Ansible</a:t>
            </a:r>
          </a:p>
        </p:txBody>
      </p:sp>
    </p:spTree>
    <p:extLst>
      <p:ext uri="{BB962C8B-B14F-4D97-AF65-F5344CB8AC3E}">
        <p14:creationId xmlns:p14="http://schemas.microsoft.com/office/powerpoint/2010/main" val="1169253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807-49CB-DABB-2D46-85AC69D1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429B-7E51-5116-BBF3-6374F116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C459-E4B1-7DC3-7F2B-B65D3B3A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Phillips, T. Zimmermann, and C. Bird, “Understanding and Improving Software Build Teams,”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-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2014,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10.1145/2568225.2568274.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Vaswani et al., “Attention is All you Need,” in Neural Information Processing Systems, 2017.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https://api.semanticscholar.org/CorpusID:13756489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Henkel, C. Bird, S. K. Lahiri, and T. Reps, “Learning from, Understanding, and Supporting DevOps Artifacts for Docker,”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IEEE/ACM 42nd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38–49,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/CorpusID:211069127</a:t>
            </a:r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64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B084-352E-76E4-EE54-60E95B99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33DC-3467-3ABF-9EE0-4D8B67F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EAFC-D034-7533-DA49-A60A16FF4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Henkel, D. Silva, L. Teixeira, M.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d’Amorim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Reps, “Shipwright: A Human-in- the-Loop System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IEEE/ACM 43rd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1148–1160, 2021,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https://api.semanticscholar.org/CorpusID:232045443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Shabani, N. Nashid, P. Alian, and A. Mesbah,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Flakiness: Characterization and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IEEE/ACM 47th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1793–1805, 2024,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https://api.semanticscholar.org/CorpusID:271855816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W. Elliott,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Linting: Every time, Everywhere,”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medium.com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/@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david.w.elliott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/dockerfile-linting-every-time-everywhere-d8d271a1e650</a:t>
            </a: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32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B9D8-B06A-01E9-FFDE-0D332584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1A95-3EFD-AECF-C51A-C4DF3DCB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E8E3-6A3A-A8DD-B445-94050855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G. Rosa, S. Scalabrino, G. Robles, and R. Oliveto,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Smells are 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Same: An Empirical Evaluation of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Hadolint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Practices by Experts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2024. doi:10.1145/3643991.3644905.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Y. Zhou, W. Zhan, Z. Li, T. Han, T. Chen, and H. C. Gall, “DRIVE: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Mining and Violation Detection,”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1–23, 2022,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/CorpusID:254564701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Henkel, C. Bird, S. K. Lahiri, and T. Reps, “ICSE 2020 Artifact for: Learning from, Understanding, and Supporting DevOps Artifacts for Docker.”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10.5281/zenodo.3628771.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00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4169" y="3244334"/>
            <a:ext cx="52138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092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2290</Words>
  <Application>Microsoft Macintosh PowerPoint</Application>
  <PresentationFormat>Widescreen</PresentationFormat>
  <Paragraphs>374</Paragraphs>
  <Slides>33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Comparative Analysis of RoBERTa and CodeBERT for Automated Misconfiguration Detection in Dockerfiles</vt:lpstr>
      <vt:lpstr>ABSTRACT</vt:lpstr>
      <vt:lpstr>Outline</vt:lpstr>
      <vt:lpstr>Introduction</vt:lpstr>
      <vt:lpstr>PowerPoint Presentation</vt:lpstr>
      <vt:lpstr>Problem Statement</vt:lpstr>
      <vt:lpstr>Problem Statement</vt:lpstr>
      <vt:lpstr>Objectives</vt:lpstr>
      <vt:lpstr>Scope and Limitation</vt:lpstr>
      <vt:lpstr>PowerPoint Presentation</vt:lpstr>
      <vt:lpstr>Methodology</vt:lpstr>
      <vt:lpstr>Dataset Description</vt:lpstr>
      <vt:lpstr>Data Preprocessing</vt:lpstr>
      <vt:lpstr>Data Preprocessing</vt:lpstr>
      <vt:lpstr>Data Preprocessing</vt:lpstr>
      <vt:lpstr>Data Preprocessing</vt:lpstr>
      <vt:lpstr>Data Preprocessing</vt:lpstr>
      <vt:lpstr>Description of Algorithms</vt:lpstr>
      <vt:lpstr>Description of Algorithms</vt:lpstr>
      <vt:lpstr>Description of algorithms</vt:lpstr>
      <vt:lpstr>Implementation Details</vt:lpstr>
      <vt:lpstr>Implementation Details</vt:lpstr>
      <vt:lpstr>Result Analysis</vt:lpstr>
      <vt:lpstr>Result Analysis</vt:lpstr>
      <vt:lpstr>Result Analysis</vt:lpstr>
      <vt:lpstr>Result Analysis</vt:lpstr>
      <vt:lpstr>Result Analysis</vt:lpstr>
      <vt:lpstr>Conclusion</vt:lpstr>
      <vt:lpstr>Future Recommendation</vt:lpstr>
      <vt:lpstr>References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Ejection Fraction of Eco Cardiography U</dc:title>
  <dc:creator>Lenovo</dc:creator>
  <cp:lastModifiedBy>Deepak Aryal</cp:lastModifiedBy>
  <cp:revision>179</cp:revision>
  <dcterms:created xsi:type="dcterms:W3CDTF">2025-11-22T14:51:18Z</dcterms:created>
  <dcterms:modified xsi:type="dcterms:W3CDTF">2026-01-26T03:12:50Z</dcterms:modified>
</cp:coreProperties>
</file>