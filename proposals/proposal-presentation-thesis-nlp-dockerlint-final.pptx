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7" roundtripDataSignature="AMtx7mjfXtKERXzYDq4b7bkH2FcDeqql8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33AD913-ACBD-422C-AEB1-0928BFA417CB}">
  <a:tblStyle styleId="{F33AD913-ACBD-422C-AEB1-0928BFA417C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7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815e3496ce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815e3496ce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g3815e3496ce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815e3496ce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815e3496ce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g3815e3496ce_0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815e3496ce_0_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815e3496ce_0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g3815e3496ce_0_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815e3496ce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815e3496ce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g3815e3496ce_0_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815e3496ce_0_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815e3496ce_0_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g3815e3496ce_0_2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815e3496ce_0_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815e3496ce_0_3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815e3496ce_0_3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815e3496ce_0_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815e3496ce_0_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g3815e3496ce_0_4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15e3496ce_0_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815e3496ce_0_4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g3815e3496ce_0_4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815e3496ce_0_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815e3496ce_0_5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g3815e3496ce_0_5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815e3496ce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815e3496ce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815e3496ce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815e3496ce_1_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815e3496ce_1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815e3496ce_1_1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815e3496ce_1_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815e3496ce_1_3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3815e3496ce_1_3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815e3496ce_1_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815e3496ce_1_4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g3815e3496ce_1_4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815e3496ce_0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815e3496ce_0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g3815e3496ce_0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815e3496ce_0_1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815e3496ce_0_1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g3815e3496ce_0_1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815e3496ce_0_6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815e3496ce_0_6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g3815e3496ce_0_6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15e3496ce_0_7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815e3496ce_0_7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g3815e3496ce_0_7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815e3496ce_0_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815e3496ce_0_8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815e3496ce_0_8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815e3496ce_0_9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815e3496ce_0_9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g3815e3496ce_0_9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815e3496ce_0_1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815e3496ce_0_1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g3815e3496ce_0_1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3" name="Google Shape;253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2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2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2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2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jp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815e3496ce_0_0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b="1" lang="en-US" sz="3000">
                <a:latin typeface="Arial"/>
                <a:ea typeface="Arial"/>
                <a:cs typeface="Arial"/>
                <a:sym typeface="Arial"/>
              </a:rPr>
              <a:t>A Thesis Proposal</a:t>
            </a:r>
            <a:endParaRPr b="1" sz="3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b="1" lang="en-US" sz="3000">
                <a:latin typeface="Arial"/>
                <a:ea typeface="Arial"/>
                <a:cs typeface="Arial"/>
                <a:sym typeface="Arial"/>
              </a:rPr>
              <a:t>On</a:t>
            </a:r>
            <a:endParaRPr b="1" sz="3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6"/>
              <a:buFont typeface="Arial"/>
              <a:buNone/>
            </a:pPr>
            <a:r>
              <a:rPr b="1" lang="en-US" sz="3000">
                <a:latin typeface="Arial"/>
                <a:ea typeface="Arial"/>
                <a:cs typeface="Arial"/>
                <a:sym typeface="Arial"/>
              </a:rPr>
              <a:t>“Comparative Analysis of RoBERTa and CodeBERT for Automated Misconfiguration Detection  in Dockerfiles”</a:t>
            </a:r>
            <a:endParaRPr b="1" sz="30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g3815e3496ce_0_0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 fontScale="47500"/>
          </a:bodyPr>
          <a:lstStyle/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-US" sz="55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Deepak Aryal</a:t>
            </a:r>
            <a:endParaRPr b="1" sz="55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b="1" lang="en-US" sz="55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                                        7925005</a:t>
            </a:r>
            <a:endParaRPr b="1" sz="55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 b="1" sz="28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815e3496ce_0_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815e3496ce_0_7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Overview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g3815e3496ce_0_7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03200" lvl="0" marL="228600" rtl="0" algn="l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Literature Review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Methodology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Expected Outcomes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Work Schedule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l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9" name="Google Shape;99;g3815e3496ce_0_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815e3496ce_0_1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Introduction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6" name="Google Shape;106;g3815e3496ce_0_1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03200" lvl="0" marL="228600" rtl="0" algn="just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Software growth demands scalable infrastructure, and DevOps tools like Docker streamline testing, deployment, and delivery.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DevOps artifacts like Dockerfiles are complex, under-studied, and often overlooked in automated analysis since they are not treated as traditional code.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opular tools like the VS Code Docker extension, Dockerfiles often contain rule violations, leading to misconfigurations and security risks.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E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valuates NLP models (RoBERTa, CodeBERT) for detecting Dockerfile misconfigurations, comparing performance and adaptability to improve security and reliability in DevOps.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g3815e3496ce_0_1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815e3496ce_0_2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g3815e3496ce_0_21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03200" lvl="0" marL="228600" rtl="0" algn="just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Many engineers overlook Docker best practices, misconfigurations &amp; vulnerabilities.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Existing tools (Hadolint, Trivy, Dockle, Chekov) are rule-based, limited to predefined checks, and cumbersome to integrate into the CI process.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Many publicly available Docker images contain security vulnerabilities, often caused by improperly configured Docker artifacts.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NLP/AI for Dockerfiles is still underexplored.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F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ocuses on build level rather than line-level misconfigurations. 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5" name="Google Shape;115;g3815e3496ce_0_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815e3496ce_0_2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g3815e3496ce_0_28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main objectives of the Thesis are: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To design and develop automated detection framework using either roBERTA or CodeBERT, and find which one has better performance.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To evaluate and compare the performance of RoBERTa and CodeBERT for automated misconfiguration detection in Dockerfiles, using metrics such as accuracy, precision, recall etc.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3" name="Google Shape;123;g3815e3496ce_0_2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815e3496ce_0_3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Literature Review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0" name="Google Shape;130;g3815e3496ce_0_35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study ‘Learning from, Understanding, and Supporting DevOps Artifacts for Docker’ shows non-expert Dockerfiles violate best practices far more than expert files and proposes the Binnacle tool for rule enforcement, highlighting the need for automated, adaptive approaches[6].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paper ‘Shipwright: A Human-in-the-Loop System for Dockerfile Repair’ uses a modified BERT model to suggest repairs for broken Dockerfiles, improving build correctness, but focuses on build failures rather than line-level security misconfigurations[2].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paper ‘Dockerfile Flakiness: Characterization and Repair’ presents FlakiDock, which uses LLMs and dynamic analysis to repair flaky Dockerfiles, showing AI’s potential for automated correction, though it does not address line-level security misconfigurations[3].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1" name="Google Shape;131;g3815e3496ce_0_3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15e3496ce_0_4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Literature Review (Continue)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g3815e3496ce_0_42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article ‘Dockerfile Linting: Every time, Everywhere’ highlights integrating linting tools like Hadolint into Docker workflows to enforce best practices and maintain consistent quality[7].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paper ‘Not all Dockerfile Smells are the Same’ analyzes expert handling of Hadolint-detected Dockerfile smells, showing that even experienced developers overlook issues and highlighting the importance of linting tools, though it does not explore AI/NLP-based detection[8].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03200" lvl="0" marL="2286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paper ‘DRIVE: Dockerfile Rule Mining and Violation Detection’ mines implicit rules from Dockerfiles to detect violations, improving quality, but focuses on static analysis rather than AI/NLP-based detection[9].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9" name="Google Shape;139;g3815e3496ce_0_4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815e3496ce_0_4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Methodology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6" name="Google Shape;146;g3815e3496ce_0_49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Dataset description: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Primary Source: Henkel et al.’s Dockerfile corpus (~178,000 Dockerfiles from GitHub, ICSE 2020) captures historical real-world practices; supplemented with Dockerfiles from 2021–2025 via GitHub Search API to reflect current practices.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Preprocessing &amp; Labels: Dockerfiles parsed line by line; each instruction (e.g., FROM, RUN, COPY) labeled as correct or misconfigured for training and evaluation of NLP models.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Data preparation: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Training Set: 70% of the data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Test Set: 30% of the data 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7" name="Google Shape;147;g3815e3496ce_0_4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815e3496ce_0_5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Flowchart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g3815e3496ce_0_56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5" name="Google Shape;155;g3815e3496ce_0_5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56" name="Google Shape;156;g3815e3496ce_0_56" title="flowchart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85650" y="1301075"/>
            <a:ext cx="7635700" cy="536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815e3496ce_1_0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Transformers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3" name="Google Shape;163;g3815e3496ce_1_0"/>
          <p:cNvSpPr txBox="1"/>
          <p:nvPr>
            <p:ph idx="1" type="body"/>
          </p:nvPr>
        </p:nvSpPr>
        <p:spPr>
          <a:xfrm>
            <a:off x="838200" y="1825625"/>
            <a:ext cx="46482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4" name="Google Shape;164;g3815e3496ce_1_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5" name="Google Shape;165;g3815e3496ce_1_0"/>
          <p:cNvSpPr txBox="1"/>
          <p:nvPr/>
        </p:nvSpPr>
        <p:spPr>
          <a:xfrm>
            <a:off x="5953750" y="1869450"/>
            <a:ext cx="5029200" cy="42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Faster than RNNs/LSTMs: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parallel training on large datasets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Attention mechanism: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focuses on most relevant words in context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Encoder+Decoder: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encoder for classification, both for translation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Self-attention: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captures dependencies even across distant words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Char char="●"/>
            </a:pPr>
            <a:r>
              <a:rPr b="1"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Positional encoding:</a:t>
            </a: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keeps track of word order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66" name="Google Shape;166;g3815e3496ce_1_0" title="transformer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4800" y="1690825"/>
            <a:ext cx="5155000" cy="4665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815e3496ce_1_1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RoBERTa and CodeBERT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3" name="Google Shape;173;g3815e3496ce_1_18"/>
          <p:cNvSpPr txBox="1"/>
          <p:nvPr>
            <p:ph idx="1" type="body"/>
          </p:nvPr>
        </p:nvSpPr>
        <p:spPr>
          <a:xfrm>
            <a:off x="838200" y="1825625"/>
            <a:ext cx="10515600" cy="4179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Encoder only transformer architecture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Optimized version of BERT with larger datasets and better training strategies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Dynamic masking: different tokens are masked in each epoch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Transformer encoder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1" marL="914400" rtl="0" algn="just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Stack of self-attention layers producing contextualized token representations.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42900" lvl="1" marL="914400" rtl="0" algn="just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•"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Input tokens =&gt; embedding vectors =&gt; processed by encoder layers.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9144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9144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9144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Where Q, K, V: query, key, value from embeddings and dk: 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dimension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 of key vectors</a:t>
            </a:r>
            <a:endParaRPr b="1" baseline="-25000"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g3815e3496ce_1_1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75" name="Google Shape;175;g3815e3496ce_1_18" title="atten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10000" y="4006875"/>
            <a:ext cx="4324350" cy="828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815e3496ce_1_3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RoBERTa and CodeBERT (Continue)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2" name="Google Shape;182;g3815e3496ce_1_32"/>
          <p:cNvSpPr txBox="1"/>
          <p:nvPr>
            <p:ph idx="1" type="body"/>
          </p:nvPr>
        </p:nvSpPr>
        <p:spPr>
          <a:xfrm>
            <a:off x="838200" y="1825625"/>
            <a:ext cx="10515600" cy="4179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just"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Classification head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1" marL="914400" rtl="0" algn="just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[CLS] token embedding from the encoder is passed through a feed-forward layer to produce a probability distribution over class labels, enabling classification of Dockerfiles as correct or misconfigured.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		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4572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Where W,b = trainable parameters and y = 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probability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 distribution overs classes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3" name="Google Shape;183;g3815e3496ce_1_3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84" name="Google Shape;184;g3815e3496ce_1_32" title="classification-he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51188" y="3363025"/>
            <a:ext cx="3889625" cy="751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815e3496ce_1_41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RoBERTa and CodeBERT (Continue)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1" name="Google Shape;191;g3815e3496ce_1_4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aphicFrame>
        <p:nvGraphicFramePr>
          <p:cNvPr id="192" name="Google Shape;192;g3815e3496ce_1_41"/>
          <p:cNvGraphicFramePr/>
          <p:nvPr/>
        </p:nvGraphicFramePr>
        <p:xfrm>
          <a:off x="952500" y="1690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{F33AD913-ACBD-422C-AEB1-0928BFA417CB}</a:tableStyleId>
              </a:tblPr>
              <a:tblGrid>
                <a:gridCol w="3429000"/>
                <a:gridCol w="3429000"/>
                <a:gridCol w="3429000"/>
              </a:tblGrid>
              <a:tr h="629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Feature</a:t>
                      </a:r>
                      <a:endParaRPr b="1"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RoBERTa</a:t>
                      </a:r>
                      <a:endParaRPr b="1"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CodeBERT</a:t>
                      </a:r>
                      <a:endParaRPr b="1"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629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Base model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BERT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BERT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10496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 Training</a:t>
                      </a: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data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Large natural language corpus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Source code + natural language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629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Masking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Dynamic masking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Dynamic masking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629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Primary use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NLP tasks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Code related tasks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  <a:tr h="10496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Strength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Understands natural language context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Understands code structure and syntax</a:t>
                      </a:r>
                      <a:endParaRPr sz="24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815e3496ce_0_10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Evaluation Metrics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9" name="Google Shape;199;g3815e3496ce_0_109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Accuracy</a:t>
            </a: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Accuracy measures the overall correctness of the model’s prediction, defined as the ratio of correctly identified instances to the total number of instances: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Accuracy = (TP + TN) / (TP + TN + FP + FN)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where TP = true 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positives, TN = true negatives, FP = false positives and FN = false negatives.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Precision: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Precision measures the percentage of positive predictions that are actually positive, also known as the positive predictive value.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Precision = TP / (TP + FP)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0" name="Google Shape;200;g3815e3496ce_0_10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815e3496ce_0_11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Evaluation Metrics (Continue)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7" name="Google Shape;207;g3815e3496ce_0_116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Recall</a:t>
            </a: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Recall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 measures how well a model  identifies true 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positives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 and it is given by: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Recall = TP /  TP + FN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High recall ensures that most misconfigurations are correctly detected.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F1 score</a:t>
            </a:r>
            <a:r>
              <a:rPr b="1" lang="en-US" sz="2400"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endParaRPr b="1"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F1 score measures weighted average of precision and recall, and is calculated 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using</a:t>
            </a: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 the harmonic mean of these two matrices.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F1 score = 2 × (Precision × Recall) / (Precision + Recall)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8" name="Google Shape;208;g3815e3496ce_0_116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815e3496ce_0_6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Expected Outcome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5" name="Google Shape;215;g3815e3496ce_0_6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1000" lvl="0" marL="4572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research will determine which NLP model (RoBERTa or CodeBERT) achieves better performance in detecting misconfigurations in Dockerfiles.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81000" lvl="0" marL="45720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Char char="•"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best-performing implemented model will be able to classify configurations as correct or incorrect and explain the type of misconfiguration.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6" name="Google Shape;216;g3815e3496ce_0_6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815e3496ce_0_79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Time Schedule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3" name="Google Shape;223;g3815e3496ce_0_79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The project started on 3rd August 2025 and is targeted to be completed within 12 weeks, by the end of October 2025.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4" name="Google Shape;224;g3815e3496ce_0_7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25" name="Google Shape;225;g3815e3496ce_0_7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2865150"/>
            <a:ext cx="9779100" cy="28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g3815e3496ce_0_79"/>
          <p:cNvSpPr txBox="1"/>
          <p:nvPr/>
        </p:nvSpPr>
        <p:spPr>
          <a:xfrm>
            <a:off x="4531350" y="5679450"/>
            <a:ext cx="5852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Figure: Gantt Chart</a:t>
            </a: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815e3496ce_0_8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3" name="Google Shape;233;g3815e3496ce_0_88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[1] S. Phillips, T. Zimmermann, and C. Bird, “Understanding and Improving Software Build Teams,” Proc. - Int. Conf. Softw. Eng., May 2014, doi:10.1145/2568225.2568274.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[2] J. Henkel, D. Silva, L. Teixeira, M. d’Amorim, and T. Reps, “Shipwright: A Human-in-the-Loop System for Dockerfile Repair,” 2021 IEEE/ACM 43rd Int. Conf. Softw. Eng., pp. 1148–1160, 2021, [Online]. Available: https://api.semanticscholar.org/CorpusID:232045443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[3] T. Shabani, N. Nashid, P. Alian, and A. Mesbah, “Dockerfile Flakiness: Characterization and Repair,” 2025 IEEE/ACM 47th Int. Conf. Softw. Eng., pp. 1793–1805, 2024, [Online]. Available: https://api.semanticscholar.org/CorpusID:271855816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4" name="Google Shape;234;g3815e3496ce_0_8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815e3496ce_0_95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References (Continue)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1" name="Google Shape;241;g3815e3496ce_0_95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[4] J. Henkel, C. Bird, S. K. Lahiri, and T. Reps, “ICSE 2020 Artifact for: Learning from, Understanding, and Supporting DevOps Artifacts for Docker.” Zenodo, 2020. doi:10.5281/zenodo.3628771.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[5] A. Vaswani et al., “Attention is All you Need,” in Neural Information Processing Systems, 2017. [Online]. Available: https://api.semanticscholar.org/CorpusID:13756489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[6] J. Henkel, C. Bird, S. K. Lahiri, and T. Reps, “Learning from, Understanding, and Supporting DevOps Artifacts for Docker,” 2020 IEEE/ACM 42nd Int. Conf. Softw. Eng., pp. 38–49, 2020, [Online]. Available: https://api.semanticscholar.org/CorpusID:211069127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2" name="Google Shape;242;g3815e3496ce_0_9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815e3496ce_0_102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References (Continue)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9" name="Google Shape;249;g3815e3496ce_0_102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[7] D. W. Elliott, “Dockerfile Linting: Every time, Everywhere,” 2020, [Online]. Available: https://medium.com/@david.w.elliott/dockerfile-linting-every-time-everywhere-d8d271a1e650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[8] G. Rosa, S. Scalabrino, G. Robles, and R. Oliveto, Not all Dockerfile Smells are the Same: An Empirical Evaluation of Hadolint Writing Practices by Experts. 2024. doi:10.1145/3643991.3644905.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400">
                <a:latin typeface="Times New Roman"/>
                <a:ea typeface="Times New Roman"/>
                <a:cs typeface="Times New Roman"/>
                <a:sym typeface="Times New Roman"/>
              </a:rPr>
              <a:t>[9] Y. Zhou, W. Zhan, Z. Li, T. Han, T. Chen, and H. C. Gall, “DRIVE: Dockerfile Rule Mining and Violation        Detection,” ACM Trans. Softw. Eng. Methodol., vol. 33, pp. 1–23, 2022, [Online]. Available: https://api.semanticscholar.org/CorpusID:254564701</a:t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778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50800" lvl="0" marL="22860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0" name="Google Shape;250;g3815e3496ce_0_10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7"/>
          <p:cNvSpPr txBox="1"/>
          <p:nvPr>
            <p:ph type="title"/>
          </p:nvPr>
        </p:nvSpPr>
        <p:spPr>
          <a:xfrm>
            <a:off x="838200" y="255968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Thank you!!!</a:t>
            </a:r>
            <a:endParaRPr b="1" sz="3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6" name="Google Shape;256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